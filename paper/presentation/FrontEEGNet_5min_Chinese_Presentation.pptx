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Accuracy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5B9BD5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B9CEE2"/>
              </a:solidFill>
            </c:spPr>
          </c:dPt>
          <c:dPt>
            <c:idx val="1"/>
            <c:invertIfNegative val="0"/>
            <c:bubble3D val="0"/>
            <c:spPr>
              <a:solidFill>
                <a:srgbClr val="A9C5E0"/>
              </a:solidFill>
            </c:spPr>
          </c:dPt>
          <c:dPt>
            <c:idx val="2"/>
            <c:invertIfNegative val="0"/>
            <c:bubble3D val="0"/>
            <c:spPr>
              <a:solidFill>
                <a:srgbClr val="8DB7DF"/>
              </a:solidFill>
            </c:spPr>
          </c:dPt>
          <c:dPt>
            <c:idx val="3"/>
            <c:invertIfNegative val="0"/>
            <c:bubble3D val="0"/>
            <c:spPr>
              <a:solidFill>
                <a:srgbClr val="6DA4D8"/>
              </a:solidFill>
            </c:spPr>
          </c:dPt>
          <c:dPt>
            <c:idx val="4"/>
            <c:invertIfNegative val="0"/>
            <c:bubble3D val="0"/>
            <c:spPr>
              <a:solidFill>
                <a:srgbClr val="123B6D"/>
              </a:solidFill>
            </c:spPr>
          </c:dPt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zh-CN" sz="1050" b="1" i="0" u="none" strike="noStrike" kern="1200" baseline="0">
                        <a:solidFill>
                          <a:srgbClr val="15263A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sz="1050" b="1">
                        <a:solidFill>
                          <a:srgbClr val="15263A"/>
                        </a:solidFill>
                      </a:rPr>
                      <a:t>45.17 ± 6.29%</a:t>
                    </a:r>
                    <a:endParaRPr sz="1050" b="1">
                      <a:solidFill>
                        <a:srgbClr val="15263A"/>
                      </a:solid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050" b="1" i="0" u="none" strike="noStrike" kern="1200" baseline="0">
                      <a:solidFill>
                        <a:srgbClr val="15263A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zh-CN" sz="1050" b="1" i="0" u="none" strike="noStrike" kern="1200" baseline="0">
                        <a:solidFill>
                          <a:srgbClr val="15263A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sz="1050" b="1">
                        <a:solidFill>
                          <a:srgbClr val="15263A"/>
                        </a:solidFill>
                      </a:rPr>
                      <a:t>46.65 ± 8.00%</a:t>
                    </a:r>
                    <a:endParaRPr sz="1050" b="1">
                      <a:solidFill>
                        <a:srgbClr val="15263A"/>
                      </a:solid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050" b="1" i="0" u="none" strike="noStrike" kern="1200" baseline="0">
                      <a:solidFill>
                        <a:srgbClr val="15263A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zh-CN" sz="1050" b="1" i="0" u="none" strike="noStrike" kern="1200" baseline="0">
                        <a:solidFill>
                          <a:srgbClr val="15263A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sz="1050" b="1">
                        <a:solidFill>
                          <a:srgbClr val="15263A"/>
                        </a:solidFill>
                      </a:rPr>
                      <a:t>49.06 ± 7.95%</a:t>
                    </a:r>
                    <a:endParaRPr sz="1050" b="1">
                      <a:solidFill>
                        <a:srgbClr val="15263A"/>
                      </a:solid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050" b="1" i="0" u="none" strike="noStrike" kern="1200" baseline="0">
                      <a:solidFill>
                        <a:srgbClr val="15263A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zh-CN" sz="1050" b="1" i="0" u="none" strike="noStrike" kern="1200" baseline="0">
                        <a:solidFill>
                          <a:srgbClr val="15263A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sz="1050" b="1">
                        <a:solidFill>
                          <a:srgbClr val="15263A"/>
                        </a:solidFill>
                      </a:rPr>
                      <a:t>49.15 ± 7.52%</a:t>
                    </a:r>
                    <a:endParaRPr sz="1050" b="1">
                      <a:solidFill>
                        <a:srgbClr val="15263A"/>
                      </a:solid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050" b="1" i="0" u="none" strike="noStrike" kern="1200" baseline="0">
                      <a:solidFill>
                        <a:srgbClr val="15263A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zh-CN" sz="1050" b="1" i="0" u="none" strike="noStrike" kern="1200" baseline="0">
                        <a:solidFill>
                          <a:srgbClr val="123B6D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sz="1050" b="1">
                        <a:solidFill>
                          <a:srgbClr val="123B6D"/>
                        </a:solidFill>
                      </a:rPr>
                      <a:t>54.72 ± 5.46%</a:t>
                    </a:r>
                    <a:endParaRPr sz="1050" b="1">
                      <a:solidFill>
                        <a:srgbClr val="123B6D"/>
                      </a:solidFill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050" b="1" i="0" u="none" strike="noStrike" kern="1200" baseline="0">
                      <a:solidFill>
                        <a:srgbClr val="123B6D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{"RA + tangent LR","Linear","PSD-GCN","PSD-MLP","FrontEEGNet"}</c:f>
              <c:strCache>
                <c:ptCount val="5"/>
                <c:pt idx="0">
                  <c:v>RA + tangent LR</c:v>
                </c:pt>
                <c:pt idx="1">
                  <c:v>Linear</c:v>
                </c:pt>
                <c:pt idx="2">
                  <c:v>PSD-GCN</c:v>
                </c:pt>
                <c:pt idx="3">
                  <c:v>PSD-MLP</c:v>
                </c:pt>
                <c:pt idx="4">
                  <c:v>FrontEEGNet</c:v>
                </c:pt>
              </c:strCache>
            </c:strRef>
          </c:cat>
          <c:val>
            <c:numRef>
              <c:f>{45.17,46.65,49.06,49.15,54.72}</c:f>
              <c:numCache>
                <c:formatCode>General</c:formatCode>
                <c:ptCount val="5"/>
                <c:pt idx="0">
                  <c:v>45.17</c:v>
                </c:pt>
                <c:pt idx="1">
                  <c:v>46.65</c:v>
                </c:pt>
                <c:pt idx="2">
                  <c:v>49.06</c:v>
                </c:pt>
                <c:pt idx="3">
                  <c:v>49.15</c:v>
                </c:pt>
                <c:pt idx="4">
                  <c:v>54.72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DE7F1"/>
              </a:solidFill>
              <a:prstDash val="solid"/>
              <a:round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C7D6E6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5B6B7C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7D6E6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25" b="0" i="0" u="none" strike="noStrike" kern="1200" baseline="0">
                <a:solidFill>
                  <a:srgbClr val="15263A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5eda058a-9a0f-4adc-8a92-5bd0e4ddade8}"/>
      </c:ext>
    </c:extLst>
  </c:chart>
  <c:spPr>
    <a:solidFill>
      <a:srgbClr val="FFFFFF"/>
    </a:solidFill>
    <a:ln w="0">
      <a:solidFill>
        <a:srgbClr val="FFFFFF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Source-only</c:f>
              <c:strCache>
                <c:ptCount val="1"/>
                <c:pt idx="0">
                  <c:v>Source-only</c:v>
                </c:pt>
              </c:strCache>
            </c:strRef>
          </c:tx>
          <c:spPr>
            <a:ln w="28575" cap="rnd">
              <a:solidFill>
                <a:srgbClr val="123B6D"/>
              </a:solidFill>
              <a:prstDash val="solid"/>
              <a:round/>
            </a:ln>
          </c:spPr>
          <c:marker>
            <c:symbol val="circle"/>
            <c:size val="8"/>
            <c:spPr>
              <a:solidFill>
                <a:srgbClr val="123B6D"/>
              </a:solidFill>
            </c:spPr>
          </c:marker>
          <c:dLbls>
            <c:delete val="1"/>
          </c:dLbls>
          <c:cat>
            <c:strRef>
              <c:f>{"每类 1 个标签","每类 16 个标签"}</c:f>
              <c:strCache>
                <c:ptCount val="2"/>
                <c:pt idx="0">
                  <c:v>每类 1 个标签</c:v>
                </c:pt>
                <c:pt idx="1">
                  <c:v>每类 16 个标签</c:v>
                </c:pt>
              </c:strCache>
            </c:strRef>
          </c:cat>
          <c:val>
            <c:numRef>
              <c:f>{54.72,54.72}</c:f>
              <c:numCache>
                <c:formatCode>0.00</c:formatCode>
                <c:ptCount val="2"/>
                <c:pt idx="0">
                  <c:v>54.72</c:v>
                </c:pt>
                <c:pt idx="1">
                  <c:v>54.72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Head-only</c:f>
              <c:strCache>
                <c:ptCount val="1"/>
                <c:pt idx="0">
                  <c:v>Head-only</c:v>
                </c:pt>
              </c:strCache>
            </c:strRef>
          </c:tx>
          <c:spPr>
            <a:ln w="20955" cap="rnd">
              <a:solidFill>
                <a:srgbClr val="246BC4"/>
              </a:solidFill>
              <a:prstDash val="solid"/>
              <a:round/>
            </a:ln>
          </c:spPr>
          <c:marker>
            <c:symbol val="circle"/>
            <c:size val="7"/>
            <c:spPr>
              <a:solidFill>
                <a:srgbClr val="246BC4"/>
              </a:solidFill>
            </c:spPr>
          </c:marker>
          <c:dLbls>
            <c:delete val="1"/>
          </c:dLbls>
          <c:cat>
            <c:strRef>
              <c:f>{"每类 1 个标签","每类 16 个标签"}</c:f>
              <c:strCache>
                <c:ptCount val="2"/>
                <c:pt idx="0">
                  <c:v>每类 1 个标签</c:v>
                </c:pt>
                <c:pt idx="1">
                  <c:v>每类 16 个标签</c:v>
                </c:pt>
              </c:strCache>
            </c:strRef>
          </c:cat>
          <c:val>
            <c:numRef>
              <c:f>{51.06,53.31}</c:f>
              <c:numCache>
                <c:formatCode>0.00</c:formatCode>
                <c:ptCount val="2"/>
                <c:pt idx="0">
                  <c:v>51.06</c:v>
                </c:pt>
                <c:pt idx="1">
                  <c:v>53.31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Partial</c:f>
              <c:strCache>
                <c:ptCount val="1"/>
                <c:pt idx="0">
                  <c:v>Partial</c:v>
                </c:pt>
              </c:strCache>
            </c:strRef>
          </c:tx>
          <c:spPr>
            <a:ln w="20955" cap="rnd">
              <a:solidFill>
                <a:srgbClr val="2A9D9F"/>
              </a:solidFill>
              <a:prstDash val="solid"/>
              <a:round/>
            </a:ln>
          </c:spPr>
          <c:marker>
            <c:symbol val="diamond"/>
            <c:size val="7"/>
            <c:spPr>
              <a:solidFill>
                <a:srgbClr val="2A9D9F"/>
              </a:solidFill>
            </c:spPr>
          </c:marker>
          <c:dLbls>
            <c:delete val="1"/>
          </c:dLbls>
          <c:cat>
            <c:strRef>
              <c:f>{"每类 1 个标签","每类 16 个标签"}</c:f>
              <c:strCache>
                <c:ptCount val="2"/>
                <c:pt idx="0">
                  <c:v>每类 1 个标签</c:v>
                </c:pt>
                <c:pt idx="1">
                  <c:v>每类 16 个标签</c:v>
                </c:pt>
              </c:strCache>
            </c:strRef>
          </c:cat>
          <c:val>
            <c:numRef>
              <c:f>{48.94,52.64}</c:f>
              <c:numCache>
                <c:formatCode>0.00</c:formatCode>
                <c:ptCount val="2"/>
                <c:pt idx="0">
                  <c:v>48.94</c:v>
                </c:pt>
                <c:pt idx="1">
                  <c:v>52.64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Full</c:f>
              <c:strCache>
                <c:ptCount val="1"/>
                <c:pt idx="0">
                  <c:v>Full</c:v>
                </c:pt>
              </c:strCache>
            </c:strRef>
          </c:tx>
          <c:spPr>
            <a:ln w="20955" cap="rnd">
              <a:solidFill>
                <a:srgbClr val="E76F51"/>
              </a:solidFill>
              <a:prstDash val="solid"/>
              <a:round/>
            </a:ln>
          </c:spPr>
          <c:marker>
            <c:symbol val="square"/>
            <c:size val="7"/>
            <c:spPr>
              <a:solidFill>
                <a:srgbClr val="E76F51"/>
              </a:solidFill>
            </c:spPr>
          </c:marker>
          <c:dLbls>
            <c:delete val="1"/>
          </c:dLbls>
          <c:cat>
            <c:strRef>
              <c:f>{"每类 1 个标签","每类 16 个标签"}</c:f>
              <c:strCache>
                <c:ptCount val="2"/>
                <c:pt idx="0">
                  <c:v>每类 1 个标签</c:v>
                </c:pt>
                <c:pt idx="1">
                  <c:v>每类 16 个标签</c:v>
                </c:pt>
              </c:strCache>
            </c:strRef>
          </c:cat>
          <c:val>
            <c:numRef>
              <c:f>{49.15,52.82}</c:f>
              <c:numCache>
                <c:formatCode>0.00</c:formatCode>
                <c:ptCount val="2"/>
                <c:pt idx="0">
                  <c:v>49.15</c:v>
                </c:pt>
                <c:pt idx="1">
                  <c:v>52.82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Target-only scratch</c:f>
              <c:strCache>
                <c:ptCount val="1"/>
                <c:pt idx="0">
                  <c:v>Target-only scratch</c:v>
                </c:pt>
              </c:strCache>
            </c:strRef>
          </c:tx>
          <c:spPr>
            <a:ln w="20955" cap="rnd">
              <a:solidFill>
                <a:srgbClr val="7F8C99"/>
              </a:solidFill>
              <a:prstDash val="dash"/>
              <a:round/>
            </a:ln>
          </c:spPr>
          <c:marker>
            <c:symbol val="triangle"/>
            <c:size val="7"/>
            <c:spPr>
              <a:solidFill>
                <a:srgbClr val="7F8C99"/>
              </a:solidFill>
            </c:spPr>
          </c:marker>
          <c:dLbls>
            <c:delete val="1"/>
          </c:dLbls>
          <c:cat>
            <c:strRef>
              <c:f>{"每类 1 个标签","每类 16 个标签"}</c:f>
              <c:strCache>
                <c:ptCount val="2"/>
                <c:pt idx="0">
                  <c:v>每类 1 个标签</c:v>
                </c:pt>
                <c:pt idx="1">
                  <c:v>每类 16 个标签</c:v>
                </c:pt>
              </c:strCache>
            </c:strRef>
          </c:cat>
          <c:val>
            <c:numRef>
              <c:f>{41.54,47.66}</c:f>
              <c:numCache>
                <c:formatCode>0.00</c:formatCode>
                <c:ptCount val="2"/>
                <c:pt idx="0">
                  <c:v>41.54</c:v>
                </c:pt>
                <c:pt idx="1">
                  <c:v>47.66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7D6E6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15263A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56"/>
          <c:min val="40"/>
        </c:scaling>
        <c:delete val="0"/>
        <c:axPos val="l"/>
        <c:majorGridlines>
          <c:spPr>
            <a:ln w="9525">
              <a:solidFill>
                <a:srgbClr val="DDE7F1"/>
              </a:solidFill>
              <a:prstDash val="solid"/>
              <a:round/>
            </a:ln>
          </c:spPr>
        </c:majorGridlines>
        <c:numFmt formatCode="0.00" sourceLinked="1"/>
        <c:majorTickMark val="none"/>
        <c:minorTickMark val="none"/>
        <c:tickLblPos val="nextTo"/>
        <c:spPr>
          <a:ln w="9525">
            <a:solidFill>
              <a:srgbClr val="C7D6E6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5B6B7C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  <c:majorUnit val="4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rgbClr val="5B6B7C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3838a32-3fdd-4efa-b382-f5a5aa1ca61a}"/>
      </c:ext>
    </c:extLst>
  </c:chart>
  <c:spPr>
    <a:solidFill>
      <a:srgbClr val="FFFFFF"/>
    </a:solidFill>
    <a:ln w="0">
      <a:solidFill>
        <a:srgbClr val="FFFFFF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Balanced accuracy</c:v>
                </c:pt>
              </c:strCache>
            </c:strRef>
          </c:tx>
          <c:dPt>
            <c:idx val="0"/>
            <c:spPr>
              <a:solidFill>
                <a:srgbClr val="AAC7E6"/>
              </a:solidFill>
              <a:ln>
                <a:solidFill>
                  <a:srgbClr val="AAC7E6"/>
                </a:solidFill>
              </a:ln>
            </c:spPr>
          </c:dPt>
          <c:dPt>
            <c:idx val="1"/>
            <c:spPr>
              <a:solidFill>
                <a:srgbClr val="AAC7E6"/>
              </a:solidFill>
              <a:ln>
                <a:solidFill>
                  <a:srgbClr val="AAC7E6"/>
                </a:solidFill>
              </a:ln>
            </c:spPr>
          </c:dPt>
          <c:dPt>
            <c:idx val="2"/>
            <c:spPr>
              <a:solidFill>
                <a:srgbClr val="AAC7E6"/>
              </a:solidFill>
              <a:ln>
                <a:solidFill>
                  <a:srgbClr val="AAC7E6"/>
                </a:solidFill>
              </a:ln>
            </c:spPr>
          </c:dPt>
          <c:dPt>
            <c:idx val="3"/>
            <c:spPr>
              <a:solidFill>
                <a:srgbClr val="AAC7E6"/>
              </a:solidFill>
              <a:ln>
                <a:solidFill>
                  <a:srgbClr val="AAC7E6"/>
                </a:solidFill>
              </a:ln>
            </c:spPr>
          </c:dPt>
          <c:dPt>
            <c:idx val="4"/>
            <c:spPr>
              <a:solidFill>
                <a:srgbClr val="AAC7E6"/>
              </a:solidFill>
              <a:ln>
                <a:solidFill>
                  <a:srgbClr val="AAC7E6"/>
                </a:solidFill>
              </a:ln>
            </c:spPr>
          </c:dPt>
          <c:dPt>
            <c:idx val="5"/>
            <c:spPr>
              <a:solidFill>
                <a:srgbClr val="AAC7E6"/>
              </a:solidFill>
              <a:ln>
                <a:solidFill>
                  <a:srgbClr val="AAC7E6"/>
                </a:solidFill>
              </a:ln>
            </c:spPr>
          </c:dPt>
          <c:dPt>
            <c:idx val="6"/>
            <c:spPr>
              <a:solidFill>
                <a:srgbClr val="AAC7E6"/>
              </a:solidFill>
              <a:ln>
                <a:solidFill>
                  <a:srgbClr val="AAC7E6"/>
                </a:solidFill>
              </a:ln>
            </c:spPr>
          </c:dPt>
          <c:dPt>
            <c:idx val="7"/>
            <c:spPr>
              <a:solidFill>
                <a:srgbClr val="063060"/>
              </a:solidFill>
              <a:ln>
                <a:solidFill>
                  <a:srgbClr val="063060"/>
                </a:solidFill>
              </a:ln>
            </c:spPr>
          </c:dPt>
          <c:dLbls>
            <c:numFmt formatCode="0.00" sourceLinked="0"/>
            <c:txPr>
              <a:bodyPr/>
              <a:lstStyle/>
              <a:p>
                <a:pPr>
                  <a:defRPr sz="1000" b="1">
                    <a:solidFill>
                      <a:srgbClr val="063060"/>
                    </a:solidFill>
                    <a:latin typeface="Apto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Linear PSD</c:v>
                </c:pt>
                <c:pt idx="1">
                  <c:v>PSD-MLP</c:v>
                </c:pt>
                <c:pt idx="2">
                  <c:v>PSD-GCN</c:v>
                </c:pt>
                <c:pt idx="3">
                  <c:v>Tangent LR</c:v>
                </c:pt>
                <c:pt idx="4">
                  <c:v>Riemannian MDM</c:v>
                </c:pt>
                <c:pt idx="5">
                  <c:v>EA + tangent</c:v>
                </c:pt>
                <c:pt idx="6">
                  <c:v>RA + tangent</c:v>
                </c:pt>
                <c:pt idx="7">
                  <c:v>FrontEEGNet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46.65</c:v>
                </c:pt>
                <c:pt idx="1">
                  <c:v>49.15</c:v>
                </c:pt>
                <c:pt idx="2">
                  <c:v>49.06</c:v>
                </c:pt>
                <c:pt idx="3">
                  <c:v>44.53</c:v>
                </c:pt>
                <c:pt idx="4">
                  <c:v>43.49</c:v>
                </c:pt>
                <c:pt idx="5">
                  <c:v>43.99</c:v>
                </c:pt>
                <c:pt idx="6">
                  <c:v>45.17</c:v>
                </c:pt>
                <c:pt idx="7">
                  <c:v>54.72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C6978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8.0"/>
          <c:min val="40.0"/>
        </c:scaling>
        <c:delete val="0"/>
        <c:axPos val="b"/>
        <c:majorGridlines>
          <c:spPr>
            <a:ln>
              <a:solidFill>
                <a:srgbClr val="DCE2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C6978"/>
                </a:solidFill>
                <a:latin typeface="Aptos"/>
              </a:defRPr>
            </a:pPr>
          </a:p>
        </c:txPr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</c:v>
                </c:pt>
              </c:strCache>
            </c:strRef>
          </c:tx>
          <c:dPt>
            <c:idx val="0"/>
            <c:spPr>
              <a:solidFill>
                <a:srgbClr val="B2BCC6"/>
              </a:solidFill>
              <a:ln>
                <a:solidFill>
                  <a:srgbClr val="B2BCC6"/>
                </a:solidFill>
              </a:ln>
            </c:spPr>
          </c:dPt>
          <c:dPt>
            <c:idx val="1"/>
            <c:spPr>
              <a:solidFill>
                <a:srgbClr val="B2BCC6"/>
              </a:solidFill>
              <a:ln>
                <a:solidFill>
                  <a:srgbClr val="B2BCC6"/>
                </a:solidFill>
              </a:ln>
            </c:spPr>
          </c:dPt>
          <c:dPt>
            <c:idx val="2"/>
            <c:spPr>
              <a:solidFill>
                <a:srgbClr val="B2BCC6"/>
              </a:solidFill>
              <a:ln>
                <a:solidFill>
                  <a:srgbClr val="B2BCC6"/>
                </a:solidFill>
              </a:ln>
            </c:spPr>
          </c:dPt>
          <c:dPt>
            <c:idx val="3"/>
            <c:spPr>
              <a:solidFill>
                <a:srgbClr val="B2BCC6"/>
              </a:solidFill>
              <a:ln>
                <a:solidFill>
                  <a:srgbClr val="B2BCC6"/>
                </a:solidFill>
              </a:ln>
            </c:spPr>
          </c:dPt>
          <c:dPt>
            <c:idx val="4"/>
            <c:spPr>
              <a:solidFill>
                <a:srgbClr val="B2BCC6"/>
              </a:solidFill>
              <a:ln>
                <a:solidFill>
                  <a:srgbClr val="B2BCC6"/>
                </a:solidFill>
              </a:ln>
            </c:spPr>
          </c:dPt>
          <c:dPt>
            <c:idx val="5"/>
            <c:spPr>
              <a:solidFill>
                <a:srgbClr val="B2BCC6"/>
              </a:solidFill>
              <a:ln>
                <a:solidFill>
                  <a:srgbClr val="B2BCC6"/>
                </a:solidFill>
              </a:ln>
            </c:spPr>
          </c:dPt>
          <c:dPt>
            <c:idx val="6"/>
            <c:spPr>
              <a:solidFill>
                <a:srgbClr val="B2BCC6"/>
              </a:solidFill>
              <a:ln>
                <a:solidFill>
                  <a:srgbClr val="B2BCC6"/>
                </a:solidFill>
              </a:ln>
            </c:spPr>
          </c:dPt>
          <c:dPt>
            <c:idx val="7"/>
            <c:spPr>
              <a:solidFill>
                <a:srgbClr val="063060"/>
              </a:solidFill>
              <a:ln>
                <a:solidFill>
                  <a:srgbClr val="063060"/>
                </a:solidFill>
              </a:ln>
            </c:spPr>
          </c:dPt>
          <c:dLbls>
            <c:numFmt formatCode="0.0" sourceLinked="0"/>
            <c:txPr>
              <a:bodyPr/>
              <a:lstStyle/>
              <a:p>
                <a:pPr>
                  <a:defRPr sz="700">
                    <a:solidFill>
                      <a:srgbClr val="063060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Linear PSD</c:v>
                </c:pt>
                <c:pt idx="1">
                  <c:v>PSD-MLP</c:v>
                </c:pt>
                <c:pt idx="2">
                  <c:v>PSD-GCN</c:v>
                </c:pt>
                <c:pt idx="3">
                  <c:v>Tangent LR</c:v>
                </c:pt>
                <c:pt idx="4">
                  <c:v>Riem. MDM</c:v>
                </c:pt>
                <c:pt idx="5">
                  <c:v>EA+tangent</c:v>
                </c:pt>
                <c:pt idx="6">
                  <c:v>RA+tangent</c:v>
                </c:pt>
                <c:pt idx="7">
                  <c:v>FrontEEGNet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46.65</c:v>
                </c:pt>
                <c:pt idx="1">
                  <c:v>49.15</c:v>
                </c:pt>
                <c:pt idx="2">
                  <c:v>49.06</c:v>
                </c:pt>
                <c:pt idx="3">
                  <c:v>44.53</c:v>
                </c:pt>
                <c:pt idx="4">
                  <c:v>43.49</c:v>
                </c:pt>
                <c:pt idx="5">
                  <c:v>43.99</c:v>
                </c:pt>
                <c:pt idx="6">
                  <c:v>45.17</c:v>
                </c:pt>
                <c:pt idx="7">
                  <c:v>54.72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5C6978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8.0"/>
          <c:min val="40.0"/>
        </c:scaling>
        <c:delete val="0"/>
        <c:axPos val="b"/>
        <c:majorGridlines>
          <c:spPr>
            <a:ln>
              <a:solidFill>
                <a:srgbClr val="E1E6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5C6978"/>
                </a:solidFill>
                <a:latin typeface="Aptos"/>
              </a:defRPr>
            </a:pPr>
          </a:p>
        </c:txPr>
        <c:crossAx val="-2068027336"/>
        <c:crosses val="autoZero"/>
        <c:majorUnit val="6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</c:v>
                </c:pt>
              </c:strCache>
            </c:strRef>
          </c:tx>
          <c:dPt>
            <c:idx val="0"/>
            <c:spPr>
              <a:solidFill>
                <a:srgbClr val="063060"/>
              </a:solidFill>
              <a:ln>
                <a:solidFill>
                  <a:srgbClr val="063060"/>
                </a:solidFill>
              </a:ln>
            </c:spPr>
          </c:dPt>
          <c:dPt>
            <c:idx val="1"/>
            <c:spPr>
              <a:solidFill>
                <a:srgbClr val="125BAA"/>
              </a:solidFill>
              <a:ln>
                <a:solidFill>
                  <a:srgbClr val="125BAA"/>
                </a:solidFill>
              </a:ln>
            </c:spPr>
          </c:dPt>
          <c:dPt>
            <c:idx val="2"/>
            <c:spPr>
              <a:solidFill>
                <a:srgbClr val="4084CD"/>
              </a:solidFill>
              <a:ln>
                <a:solidFill>
                  <a:srgbClr val="4084CD"/>
                </a:solidFill>
              </a:ln>
            </c:spPr>
          </c:dPt>
          <c:dPt>
            <c:idx val="3"/>
            <c:spPr>
              <a:solidFill>
                <a:srgbClr val="709DCB"/>
              </a:solidFill>
              <a:ln>
                <a:solidFill>
                  <a:srgbClr val="709DCB"/>
                </a:solidFill>
              </a:ln>
            </c:spPr>
          </c:dPt>
          <c:dPt>
            <c:idx val="4"/>
            <c:spPr>
              <a:solidFill>
                <a:srgbClr val="B2BCC6"/>
              </a:solidFill>
              <a:ln>
                <a:solidFill>
                  <a:srgbClr val="B2BCC6"/>
                </a:solidFill>
              </a:ln>
            </c:spPr>
          </c:dPt>
          <c:dLbls>
            <c:numFmt formatCode="0.0" sourceLinked="0"/>
            <c:txPr>
              <a:bodyPr/>
              <a:lstStyle/>
              <a:p>
                <a:pPr>
                  <a:defRPr sz="700">
                    <a:solidFill>
                      <a:srgbClr val="063060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Source
0</c:v>
                </c:pt>
                <c:pt idx="1">
                  <c:v>Head
51</c:v>
                </c:pt>
                <c:pt idx="2">
                  <c:v>Partial
803</c:v>
                </c:pt>
                <c:pt idx="3">
                  <c:v>Full
1915</c:v>
                </c:pt>
                <c:pt idx="4">
                  <c:v>Scratch
1915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54.72</c:v>
                </c:pt>
                <c:pt idx="1">
                  <c:v>53.31</c:v>
                </c:pt>
                <c:pt idx="2">
                  <c:v>52.64</c:v>
                </c:pt>
                <c:pt idx="3">
                  <c:v>52.82</c:v>
                </c:pt>
                <c:pt idx="4">
                  <c:v>47.66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5C6978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7.0"/>
          <c:min val="44.0"/>
        </c:scaling>
        <c:delete val="0"/>
        <c:axPos val="l"/>
        <c:majorGridlines>
          <c:spPr>
            <a:ln>
              <a:solidFill>
                <a:srgbClr val="E1E6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5C6978"/>
                </a:solidFill>
                <a:latin typeface="Aptos"/>
              </a:defRPr>
            </a:pPr>
          </a:p>
        </c:txPr>
        <c:crossAx val="-2068027336"/>
        <c:crosses val="autoZero"/>
        <c:majorUnit val="4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Source-only</c:v>
                </c:pt>
              </c:strCache>
            </c:strRef>
          </c:tx>
          <c:spPr>
            <a:ln w="25400">
              <a:solidFill>
                <a:srgbClr val="063060"/>
              </a:solidFill>
            </a:ln>
          </c:spPr>
          <c:marker>
            <c:symbol val="circle"/>
            <c:size val="5"/>
            <c:spPr>
              <a:solidFill>
                <a:srgbClr val="063060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54.72</c:v>
                </c:pt>
                <c:pt idx="1">
                  <c:v>54.72</c:v>
                </c:pt>
                <c:pt idx="2">
                  <c:v>54.72</c:v>
                </c:pt>
                <c:pt idx="3">
                  <c:v>54.72</c:v>
                </c:pt>
                <c:pt idx="4">
                  <c:v>54.72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Head-only</c:v>
                </c:pt>
              </c:strCache>
            </c:strRef>
          </c:tx>
          <c:spPr>
            <a:ln w="25400">
              <a:solidFill>
                <a:srgbClr val="125BAA"/>
              </a:solidFill>
            </a:ln>
          </c:spPr>
          <c:marker>
            <c:symbol val="circle"/>
            <c:size val="5"/>
            <c:spPr>
              <a:solidFill>
                <a:srgbClr val="125BAA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51.06</c:v>
                </c:pt>
                <c:pt idx="1">
                  <c:v>51.63</c:v>
                </c:pt>
                <c:pt idx="2">
                  <c:v>52.07</c:v>
                </c:pt>
                <c:pt idx="3">
                  <c:v>52.37</c:v>
                </c:pt>
                <c:pt idx="4">
                  <c:v>53.31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Full</c:v>
                </c:pt>
              </c:strCache>
            </c:strRef>
          </c:tx>
          <c:spPr>
            <a:ln w="25400">
              <a:solidFill>
                <a:srgbClr val="4084CD"/>
              </a:solidFill>
            </a:ln>
          </c:spPr>
          <c:marker>
            <c:symbol val="circle"/>
            <c:size val="5"/>
            <c:spPr>
              <a:solidFill>
                <a:srgbClr val="4084CD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49.15</c:v>
                </c:pt>
                <c:pt idx="1">
                  <c:v>50.28</c:v>
                </c:pt>
                <c:pt idx="2">
                  <c:v>51.54</c:v>
                </c:pt>
                <c:pt idx="3">
                  <c:v>52.32</c:v>
                </c:pt>
                <c:pt idx="4">
                  <c:v>52.82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Scratch</c:v>
                </c:pt>
              </c:strCache>
            </c:strRef>
          </c:tx>
          <c:spPr>
            <a:ln w="25400">
              <a:solidFill>
                <a:srgbClr val="B2BCC6"/>
              </a:solidFill>
            </a:ln>
          </c:spPr>
          <c:marker>
            <c:symbol val="circle"/>
            <c:size val="5"/>
            <c:spPr>
              <a:solidFill>
                <a:srgbClr val="B2BCC6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41.54</c:v>
                </c:pt>
                <c:pt idx="1">
                  <c:v>43.27</c:v>
                </c:pt>
                <c:pt idx="2">
                  <c:v>44.35</c:v>
                </c:pt>
                <c:pt idx="3">
                  <c:v>46.12</c:v>
                </c:pt>
                <c:pt idx="4">
                  <c:v>47.66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5C6978"/>
                </a:solidFill>
                <a:latin typeface="Apto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6.0"/>
          <c:min val="40.0"/>
        </c:scaling>
        <c:delete val="0"/>
        <c:axPos val="l"/>
        <c:majorGridlines>
          <c:spPr>
            <a:ln>
              <a:solidFill>
                <a:srgbClr val="E1E6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5C6978"/>
                </a:solidFill>
                <a:latin typeface="Aptos"/>
              </a:defRPr>
            </a:pPr>
          </a:p>
        </c:txPr>
        <c:crossAx val="2118791784"/>
        <c:crosses val="autoZero"/>
        <c:majorUnit val="4.0"/>
      </c:valAx>
    </c:plotArea>
    <c:legend>
      <c:legendPos val="b"/>
      <c:layout/>
      <c:overlay val="0"/>
      <c:txPr>
        <a:bodyPr/>
        <a:lstStyle/>
        <a:p>
          <a:pPr>
            <a:defRPr sz="700">
              <a:latin typeface="Apto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【约25秒】</a:t>
            </a:r>
          </a:p>
          <a:p>
            <a:r>
              <a:t>大家好，我是王晨宇。我们选择课程的第二个题目，把主线放在跨受试者迁移：模型先从多名源受试者学习双通道脑电表示，再迁移到训练阶段完全未见的目标受试者。我们采用轻量 EEGNet 作为主模型，重点检验零校准迁移、少样本微调和标签效率，而不是把已有网络包装成新的模型。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【约40秒】</a:t>
            </a:r>
          </a:p>
          <a:p>
            <a:r>
              <a:t>可穿戴脑电的困难不只是通道少。实验室系统通常电极多、接触稳定，而实际设备可能只提供 Fp1 和 Fp2；换到新受试者后，个体生理、佩戴状态、眨眼和头动又会共同改变信号分布。因此我们把问题定义为严格跨受试者迁移：目标受试者不能出现在训练、验证或模型选择中，最终性能必须来自真正未见的人。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【约55秒】</a:t>
            </a:r>
          </a:p>
          <a:p>
            <a:r>
              <a:t>公开 COG-BCI 使用的是这一套 MATB 模拟飞行员界面。参与者同时处理追踪、系统监控、资源管理和通信四类任务。Easy 只包含追踪与监控；Medium 加入资源管理；Difficult 再加入通信，同时提高追踪难度。三个条件各运行 5 分钟，任务条件直接作为三类心理负荷标签。原始数据包含 29 名参与者、每人三个会话；质量审计后保留 26 人，仅抽取 Fp1 和 Fp2，并切成 4 秒窗口。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【约50秒】</a:t>
            </a:r>
          </a:p>
          <a:p>
            <a:r>
              <a:t>Figure 2 汇总了数据划分、预处理、模型拓扑和迁移方式。模型输入是 Fp1、Fp2 的四秒原始波形，尺寸为 B×1×2×1000。先用一乘一百二十五的时间卷积学习时间模式，再用跨两个电极的 depthwise 空间卷积融合通道，后接 separable convolution、全局平均池化和 16 到 3 的分类头，总参数只有 1915。每一折在 25 名源受试者的 S1、S2 上训练，用源 S3 选择 checkpoint，再直接迁移到未见目标受试者的 S3。少样本实验只允许使用目标 S1，目标 S3 始终保持不可见。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【约90秒】</a:t>
            </a:r>
          </a:p>
          <a:p>
            <a:r>
              <a:t>三组实验放在一起看。第一，MATB 的同折比较中，FrontEEGNet 达到 54.72%，比最强 PSD-MLP 高 5.57 个百分点，说明原始时间结构对跨受试者迁移有帮助。第二，在每类 16 个目标标签下，Head-only、Partial 和 Full 都高于目标数据从零训练，说明源模型初始化有效；但它们都没有超过 54.72% 的零校准结果。第三，随着目标标签从每类 1 个增加到 16 个，微调和 scratch 都逐渐提高，说明标签确实在发挥作用；不过微调仍只是接近而没有反超 source-only。因此我们的结论是：跨受试者迁移成立，但当前少样本更新存在负迁移，部署时应优先使用零校准模型。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image" Target="../media/image1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Relationship Id="rId6" Type="http://schemas.openxmlformats.org/officeDocument/2006/relationships/chart" Target="../charts/chart3.xml"/><Relationship Id="rId7" Type="http://schemas.openxmlformats.org/officeDocument/2006/relationships/chart" Target="../charts/chart6.xml"/><Relationship Id="rId8" Type="http://schemas.openxmlformats.org/officeDocument/2006/relationships/chart" Target="../charts/chart7.xml"/><Relationship Id="rId9" Type="http://schemas.openxmlformats.org/officeDocument/2006/relationships/chart" Target="../charts/char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9" name="矩形 128"/>
          <p:cNvSpPr>
            <a:spLocks noGrp="1"/>
          </p:cNvSpPr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246BC4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90500" y="0"/>
            <a:ext cx="85725" cy="6858000"/>
          </a:xfrm>
          <a:prstGeom prst="rect">
            <a:avLst/>
          </a:prstGeom>
          <a:solidFill>
            <a:srgbClr val="7A8DA2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259840" y="1162050"/>
            <a:ext cx="5196205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05000"/>
              </a:lnSpc>
              <a:buNone/>
              <a:defRPr sz="3750" b="1">
                <a:solidFill>
                  <a:srgbClr val="123B6D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3750" b="1">
                <a:solidFill>
                  <a:srgbClr val="123B6D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FrontEEGNet：</a:t>
            </a:r>
            <a:endParaRPr sz="3750" b="1">
              <a:solidFill>
                <a:srgbClr val="123B6D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  <a:p>
            <a:pPr algn="l">
              <a:lnSpc>
                <a:spcPct val="105000"/>
              </a:lnSpc>
              <a:buNone/>
              <a:defRPr sz="3750" b="1">
                <a:solidFill>
                  <a:srgbClr val="123B6D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3750" b="1">
                <a:solidFill>
                  <a:srgbClr val="123B6D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双通道可穿戴 EEG 的</a:t>
            </a:r>
            <a:endParaRPr sz="3750" b="1">
              <a:solidFill>
                <a:srgbClr val="123B6D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  <a:p>
            <a:pPr algn="l">
              <a:lnSpc>
                <a:spcPct val="105000"/>
              </a:lnSpc>
              <a:buNone/>
              <a:defRPr sz="3750" b="1">
                <a:solidFill>
                  <a:srgbClr val="123B6D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3750" b="1">
                <a:solidFill>
                  <a:srgbClr val="123B6D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跨受试者心理负荷解码</a:t>
            </a:r>
            <a:endParaRPr sz="3750" b="1">
              <a:solidFill>
                <a:srgbClr val="123B6D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297940" y="3286125"/>
            <a:ext cx="6381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1875" b="0">
                <a:solidFill>
                  <a:srgbClr val="5B6B7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2000">
                <a:solidFill>
                  <a:srgbClr val="125BAA"/>
                </a:solidFill>
                <a:latin typeface="Microsoft YaHei"/>
              </a:rPr>
              <a:t>课程实践选题二 · 跨受试者迁移与少样本适配</a:t>
            </a:r>
            <a:endParaRPr sz="1875" b="0">
              <a:solidFill>
                <a:srgbClr val="5B6B7C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1297940" y="4000500"/>
            <a:ext cx="1562100" cy="0"/>
          </a:xfrm>
          <a:prstGeom prst="line">
            <a:avLst/>
          </a:prstGeom>
          <a:noFill/>
          <a:ln w="3810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297940" y="4531360"/>
            <a:ext cx="347853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1650" b="1">
                <a:solidFill>
                  <a:srgbClr val="15263A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2400">
                <a:solidFill>
                  <a:srgbClr val="15263A"/>
                </a:solidFill>
                <a:latin typeface="方正仿宋_GB2312" panose="02000000000000000000" charset="-122"/>
                <a:ea typeface="方正仿宋_GB2312" panose="02000000000000000000" charset="-122"/>
                <a:cs typeface="Noto Sans CJK SC" panose="020B0500000000000000" charset="-122"/>
              </a:rPr>
              <a:t>王晨宇</a:t>
            </a:r>
            <a:r>
              <a:rPr lang="en-US" sz="2400">
                <a:solidFill>
                  <a:srgbClr val="15263A"/>
                </a:solidFill>
                <a:latin typeface="方正仿宋_GB2312" panose="02000000000000000000" charset="-122"/>
                <a:ea typeface="方正仿宋_GB2312" panose="02000000000000000000" charset="-122"/>
                <a:cs typeface="Noto Sans CJK SC" panose="020B0500000000000000" charset="-122"/>
              </a:rPr>
              <a:t> </a:t>
            </a:r>
            <a:r>
              <a:rPr lang="en-US" sz="2400" b="0">
                <a:solidFill>
                  <a:srgbClr val="15263A"/>
                </a:solidFill>
                <a:latin typeface="Times New Roman" panose="02020603050405020304" charset="0"/>
                <a:ea typeface="方正仿宋_GB2312" panose="02000000000000000000" charset="-122"/>
                <a:cs typeface="Times New Roman" panose="02020603050405020304" charset="0"/>
              </a:rPr>
              <a:t>3250101126</a:t>
            </a:r>
            <a:endParaRPr lang="en-US" sz="2400" b="0">
              <a:solidFill>
                <a:srgbClr val="15263A"/>
              </a:solidFill>
              <a:latin typeface="Times New Roman" panose="02020603050405020304" charset="0"/>
              <a:ea typeface="方正仿宋_GB2312" panose="02000000000000000000" charset="-122"/>
              <a:cs typeface="Times New Roman" panose="02020603050405020304" charset="0"/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7660005" y="4476115"/>
            <a:ext cx="57150" cy="67684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17" name="直接连接符 16"/>
          <p:cNvSpPr>
            <a:spLocks noGrp="1"/>
          </p:cNvSpPr>
          <p:nvPr/>
        </p:nvSpPr>
        <p:spPr>
          <a:xfrm flipV="1">
            <a:off x="7717155" y="4506665"/>
            <a:ext cx="57150" cy="37133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18" name="直接连接符 17"/>
          <p:cNvSpPr>
            <a:spLocks noGrp="1"/>
          </p:cNvSpPr>
          <p:nvPr/>
        </p:nvSpPr>
        <p:spPr>
          <a:xfrm flipV="1">
            <a:off x="7774305" y="4470870"/>
            <a:ext cx="57150" cy="35795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19" name="直接连接符 18"/>
          <p:cNvSpPr>
            <a:spLocks noGrp="1"/>
          </p:cNvSpPr>
          <p:nvPr/>
        </p:nvSpPr>
        <p:spPr>
          <a:xfrm flipV="1">
            <a:off x="7831455" y="4461606"/>
            <a:ext cx="57150" cy="9264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20" name="直接连接符 19"/>
          <p:cNvSpPr>
            <a:spLocks noGrp="1"/>
          </p:cNvSpPr>
          <p:nvPr/>
        </p:nvSpPr>
        <p:spPr>
          <a:xfrm flipV="1">
            <a:off x="7888605" y="4357793"/>
            <a:ext cx="57150" cy="103812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7945755" y="4357793"/>
            <a:ext cx="57150" cy="141517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8002905" y="4499311"/>
            <a:ext cx="57150" cy="10176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8060055" y="4509487"/>
            <a:ext cx="57150" cy="6055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8117205" y="4515542"/>
            <a:ext cx="57150" cy="19942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25" name="直接连接符 24"/>
          <p:cNvSpPr>
            <a:spLocks noGrp="1"/>
          </p:cNvSpPr>
          <p:nvPr/>
        </p:nvSpPr>
        <p:spPr>
          <a:xfrm flipV="1">
            <a:off x="8174355" y="4470139"/>
            <a:ext cx="57150" cy="65344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26" name="直接连接符 25"/>
          <p:cNvSpPr>
            <a:spLocks noGrp="1"/>
          </p:cNvSpPr>
          <p:nvPr/>
        </p:nvSpPr>
        <p:spPr>
          <a:xfrm flipV="1">
            <a:off x="8231505" y="4375010"/>
            <a:ext cx="57150" cy="95130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8288655" y="4375010"/>
            <a:ext cx="57150" cy="88394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28" name="直接连接符 27"/>
          <p:cNvSpPr>
            <a:spLocks noGrp="1"/>
          </p:cNvSpPr>
          <p:nvPr/>
        </p:nvSpPr>
        <p:spPr>
          <a:xfrm flipV="1">
            <a:off x="8345805" y="4461684"/>
            <a:ext cx="57150" cy="1720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8402955" y="4461684"/>
            <a:ext cx="57150" cy="34269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8460105" y="4495953"/>
            <a:ext cx="57150" cy="84155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31" name="直接连接符 30"/>
          <p:cNvSpPr>
            <a:spLocks noGrp="1"/>
          </p:cNvSpPr>
          <p:nvPr/>
        </p:nvSpPr>
        <p:spPr>
          <a:xfrm flipV="1">
            <a:off x="8517255" y="4482464"/>
            <a:ext cx="57150" cy="97644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32" name="直接连接符 31"/>
          <p:cNvSpPr>
            <a:spLocks noGrp="1"/>
          </p:cNvSpPr>
          <p:nvPr/>
        </p:nvSpPr>
        <p:spPr>
          <a:xfrm flipV="1">
            <a:off x="8574405" y="4430594"/>
            <a:ext cx="57150" cy="51870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8631555" y="4430594"/>
            <a:ext cx="57150" cy="13068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34" name="直接连接符 33"/>
          <p:cNvSpPr>
            <a:spLocks noGrp="1"/>
          </p:cNvSpPr>
          <p:nvPr/>
        </p:nvSpPr>
        <p:spPr>
          <a:xfrm flipV="1">
            <a:off x="8688705" y="4418716"/>
            <a:ext cx="57150" cy="24946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8745855" y="4418716"/>
            <a:ext cx="57150" cy="40465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8803005" y="4459181"/>
            <a:ext cx="57150" cy="126985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37" name="直接连接符 36"/>
          <p:cNvSpPr>
            <a:spLocks noGrp="1"/>
          </p:cNvSpPr>
          <p:nvPr/>
        </p:nvSpPr>
        <p:spPr>
          <a:xfrm flipV="1">
            <a:off x="8860155" y="4487318"/>
            <a:ext cx="57150" cy="98848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8917305" y="4487318"/>
            <a:ext cx="57150" cy="14881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39" name="直接连接符 38"/>
          <p:cNvSpPr>
            <a:spLocks noGrp="1"/>
          </p:cNvSpPr>
          <p:nvPr/>
        </p:nvSpPr>
        <p:spPr>
          <a:xfrm flipV="1">
            <a:off x="8974455" y="4449814"/>
            <a:ext cx="57150" cy="52385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40" name="直接连接符 39"/>
          <p:cNvSpPr>
            <a:spLocks noGrp="1"/>
          </p:cNvSpPr>
          <p:nvPr/>
        </p:nvSpPr>
        <p:spPr>
          <a:xfrm flipV="1">
            <a:off x="9031605" y="4397047"/>
            <a:ext cx="57150" cy="52767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9088755" y="4397047"/>
            <a:ext cx="57150" cy="29184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42" name="直接连接符 41"/>
          <p:cNvSpPr>
            <a:spLocks noGrp="1"/>
          </p:cNvSpPr>
          <p:nvPr/>
        </p:nvSpPr>
        <p:spPr>
          <a:xfrm>
            <a:off x="9145905" y="4426230"/>
            <a:ext cx="57150" cy="124947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43" name="直接连接符 42"/>
          <p:cNvSpPr>
            <a:spLocks noGrp="1"/>
          </p:cNvSpPr>
          <p:nvPr/>
        </p:nvSpPr>
        <p:spPr>
          <a:xfrm flipV="1">
            <a:off x="9203055" y="4477931"/>
            <a:ext cx="57150" cy="73247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44" name="直接连接符 43"/>
          <p:cNvSpPr>
            <a:spLocks noGrp="1"/>
          </p:cNvSpPr>
          <p:nvPr/>
        </p:nvSpPr>
        <p:spPr>
          <a:xfrm>
            <a:off x="9260205" y="4477931"/>
            <a:ext cx="57150" cy="83007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45" name="直接连接符 44"/>
          <p:cNvSpPr>
            <a:spLocks noGrp="1"/>
          </p:cNvSpPr>
          <p:nvPr/>
        </p:nvSpPr>
        <p:spPr>
          <a:xfrm flipV="1">
            <a:off x="9317355" y="4477268"/>
            <a:ext cx="57150" cy="83670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46" name="直接连接符 45"/>
          <p:cNvSpPr>
            <a:spLocks noGrp="1"/>
          </p:cNvSpPr>
          <p:nvPr/>
        </p:nvSpPr>
        <p:spPr>
          <a:xfrm flipV="1">
            <a:off x="9374505" y="4404126"/>
            <a:ext cx="57150" cy="73142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47" name="直接连接符 46"/>
          <p:cNvSpPr>
            <a:spLocks noGrp="1"/>
          </p:cNvSpPr>
          <p:nvPr/>
        </p:nvSpPr>
        <p:spPr>
          <a:xfrm>
            <a:off x="9431655" y="4404126"/>
            <a:ext cx="57150" cy="13147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48" name="直接连接符 47"/>
          <p:cNvSpPr>
            <a:spLocks noGrp="1"/>
          </p:cNvSpPr>
          <p:nvPr/>
        </p:nvSpPr>
        <p:spPr>
          <a:xfrm>
            <a:off x="9488805" y="4417273"/>
            <a:ext cx="57150" cy="72460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49" name="直接连接符 48"/>
          <p:cNvSpPr>
            <a:spLocks noGrp="1"/>
          </p:cNvSpPr>
          <p:nvPr/>
        </p:nvSpPr>
        <p:spPr>
          <a:xfrm flipV="1">
            <a:off x="9545955" y="4456254"/>
            <a:ext cx="57150" cy="33479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50" name="直接连接符 49"/>
          <p:cNvSpPr>
            <a:spLocks noGrp="1"/>
          </p:cNvSpPr>
          <p:nvPr/>
        </p:nvSpPr>
        <p:spPr>
          <a:xfrm>
            <a:off x="9603105" y="4456254"/>
            <a:ext cx="57150" cy="127698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51" name="直接连接符 50"/>
          <p:cNvSpPr>
            <a:spLocks noGrp="1"/>
          </p:cNvSpPr>
          <p:nvPr/>
        </p:nvSpPr>
        <p:spPr>
          <a:xfrm flipV="1">
            <a:off x="9660255" y="4509730"/>
            <a:ext cx="57150" cy="74222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52" name="直接连接符 51"/>
          <p:cNvSpPr>
            <a:spLocks noGrp="1"/>
          </p:cNvSpPr>
          <p:nvPr/>
        </p:nvSpPr>
        <p:spPr>
          <a:xfrm flipV="1">
            <a:off x="9717405" y="4435342"/>
            <a:ext cx="57150" cy="74388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53" name="直接连接符 52"/>
          <p:cNvSpPr>
            <a:spLocks noGrp="1"/>
          </p:cNvSpPr>
          <p:nvPr/>
        </p:nvSpPr>
        <p:spPr>
          <a:xfrm>
            <a:off x="9774555" y="4435342"/>
            <a:ext cx="57150" cy="5892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54" name="直接连接符 53"/>
          <p:cNvSpPr>
            <a:spLocks noGrp="1"/>
          </p:cNvSpPr>
          <p:nvPr/>
        </p:nvSpPr>
        <p:spPr>
          <a:xfrm flipV="1">
            <a:off x="9831705" y="4426912"/>
            <a:ext cx="57150" cy="14321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55" name="直接连接符 54"/>
          <p:cNvSpPr>
            <a:spLocks noGrp="1"/>
          </p:cNvSpPr>
          <p:nvPr/>
        </p:nvSpPr>
        <p:spPr>
          <a:xfrm>
            <a:off x="9888855" y="4426912"/>
            <a:ext cx="57150" cy="5679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56" name="直接连接符 55"/>
          <p:cNvSpPr>
            <a:spLocks noGrp="1"/>
          </p:cNvSpPr>
          <p:nvPr/>
        </p:nvSpPr>
        <p:spPr>
          <a:xfrm>
            <a:off x="9946005" y="4432591"/>
            <a:ext cx="57150" cy="131617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57" name="直接连接符 56"/>
          <p:cNvSpPr>
            <a:spLocks noGrp="1"/>
          </p:cNvSpPr>
          <p:nvPr/>
        </p:nvSpPr>
        <p:spPr>
          <a:xfrm flipV="1">
            <a:off x="10003155" y="4527609"/>
            <a:ext cx="57150" cy="36600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58" name="直接连接符 57"/>
          <p:cNvSpPr>
            <a:spLocks noGrp="1"/>
          </p:cNvSpPr>
          <p:nvPr/>
        </p:nvSpPr>
        <p:spPr>
          <a:xfrm flipV="1">
            <a:off x="10060305" y="4476458"/>
            <a:ext cx="57150" cy="51150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59" name="直接连接符 58"/>
          <p:cNvSpPr>
            <a:spLocks noGrp="1"/>
          </p:cNvSpPr>
          <p:nvPr/>
        </p:nvSpPr>
        <p:spPr>
          <a:xfrm>
            <a:off x="10117455" y="4476458"/>
            <a:ext cx="57150" cy="14140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60" name="直接连接符 59"/>
          <p:cNvSpPr>
            <a:spLocks noGrp="1"/>
          </p:cNvSpPr>
          <p:nvPr/>
        </p:nvSpPr>
        <p:spPr>
          <a:xfrm flipV="1">
            <a:off x="10174605" y="4387244"/>
            <a:ext cx="57150" cy="103354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61" name="直接连接符 60"/>
          <p:cNvSpPr>
            <a:spLocks noGrp="1"/>
          </p:cNvSpPr>
          <p:nvPr/>
        </p:nvSpPr>
        <p:spPr>
          <a:xfrm>
            <a:off x="10231755" y="4387244"/>
            <a:ext cx="57150" cy="33417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62" name="直接连接符 61"/>
          <p:cNvSpPr>
            <a:spLocks noGrp="1"/>
          </p:cNvSpPr>
          <p:nvPr/>
        </p:nvSpPr>
        <p:spPr>
          <a:xfrm>
            <a:off x="10288905" y="4420661"/>
            <a:ext cx="57150" cy="92451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63" name="直接连接符 62"/>
          <p:cNvSpPr>
            <a:spLocks noGrp="1"/>
          </p:cNvSpPr>
          <p:nvPr/>
        </p:nvSpPr>
        <p:spPr>
          <a:xfrm>
            <a:off x="10346055" y="4513112"/>
            <a:ext cx="57150" cy="4978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64" name="直接连接符 63"/>
          <p:cNvSpPr>
            <a:spLocks noGrp="1"/>
          </p:cNvSpPr>
          <p:nvPr/>
        </p:nvSpPr>
        <p:spPr>
          <a:xfrm flipV="1">
            <a:off x="10403205" y="4510339"/>
            <a:ext cx="57150" cy="7751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65" name="直接连接符 64"/>
          <p:cNvSpPr>
            <a:spLocks noGrp="1"/>
          </p:cNvSpPr>
          <p:nvPr/>
        </p:nvSpPr>
        <p:spPr>
          <a:xfrm>
            <a:off x="10460355" y="4510339"/>
            <a:ext cx="57150" cy="33767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66" name="直接连接符 65"/>
          <p:cNvSpPr>
            <a:spLocks noGrp="1"/>
          </p:cNvSpPr>
          <p:nvPr/>
        </p:nvSpPr>
        <p:spPr>
          <a:xfrm flipV="1">
            <a:off x="10517505" y="4384236"/>
            <a:ext cx="57150" cy="159869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67" name="直接连接符 66"/>
          <p:cNvSpPr>
            <a:spLocks noGrp="1"/>
          </p:cNvSpPr>
          <p:nvPr/>
        </p:nvSpPr>
        <p:spPr>
          <a:xfrm>
            <a:off x="10574655" y="4384236"/>
            <a:ext cx="57150" cy="46235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68" name="直接连接符 67"/>
          <p:cNvSpPr>
            <a:spLocks noGrp="1"/>
          </p:cNvSpPr>
          <p:nvPr/>
        </p:nvSpPr>
        <p:spPr>
          <a:xfrm>
            <a:off x="10631805" y="4430471"/>
            <a:ext cx="57150" cy="24328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69" name="直接连接符 68"/>
          <p:cNvSpPr>
            <a:spLocks noGrp="1"/>
          </p:cNvSpPr>
          <p:nvPr/>
        </p:nvSpPr>
        <p:spPr>
          <a:xfrm>
            <a:off x="10688955" y="4454799"/>
            <a:ext cx="57150" cy="27164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70" name="直接连接符 69"/>
          <p:cNvSpPr>
            <a:spLocks noGrp="1"/>
          </p:cNvSpPr>
          <p:nvPr/>
        </p:nvSpPr>
        <p:spPr>
          <a:xfrm>
            <a:off x="10746105" y="4481964"/>
            <a:ext cx="57150" cy="42763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71" name="直接连接符 70"/>
          <p:cNvSpPr>
            <a:spLocks noGrp="1"/>
          </p:cNvSpPr>
          <p:nvPr/>
        </p:nvSpPr>
        <p:spPr>
          <a:xfrm flipV="1">
            <a:off x="7660005" y="4974536"/>
            <a:ext cx="57150" cy="25454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72" name="直接连接符 71"/>
          <p:cNvSpPr>
            <a:spLocks noGrp="1"/>
          </p:cNvSpPr>
          <p:nvPr/>
        </p:nvSpPr>
        <p:spPr>
          <a:xfrm flipV="1">
            <a:off x="7717155" y="4948813"/>
            <a:ext cx="57150" cy="25723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73" name="直接连接符 72"/>
          <p:cNvSpPr>
            <a:spLocks noGrp="1"/>
          </p:cNvSpPr>
          <p:nvPr/>
        </p:nvSpPr>
        <p:spPr>
          <a:xfrm>
            <a:off x="7774305" y="4948813"/>
            <a:ext cx="57150" cy="7888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74" name="直接连接符 73"/>
          <p:cNvSpPr>
            <a:spLocks noGrp="1"/>
          </p:cNvSpPr>
          <p:nvPr/>
        </p:nvSpPr>
        <p:spPr>
          <a:xfrm>
            <a:off x="7831455" y="4956701"/>
            <a:ext cx="57150" cy="14224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75" name="直接连接符 74"/>
          <p:cNvSpPr>
            <a:spLocks noGrp="1"/>
          </p:cNvSpPr>
          <p:nvPr/>
        </p:nvSpPr>
        <p:spPr>
          <a:xfrm>
            <a:off x="7888605" y="4970925"/>
            <a:ext cx="57150" cy="22141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76" name="直接连接符 75"/>
          <p:cNvSpPr>
            <a:spLocks noGrp="1"/>
          </p:cNvSpPr>
          <p:nvPr/>
        </p:nvSpPr>
        <p:spPr>
          <a:xfrm>
            <a:off x="7945755" y="4993066"/>
            <a:ext cx="57150" cy="126292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77" name="直接连接符 76"/>
          <p:cNvSpPr>
            <a:spLocks noGrp="1"/>
          </p:cNvSpPr>
          <p:nvPr/>
        </p:nvSpPr>
        <p:spPr>
          <a:xfrm flipV="1">
            <a:off x="8002905" y="5004375"/>
            <a:ext cx="57150" cy="114984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78" name="直接连接符 77"/>
          <p:cNvSpPr>
            <a:spLocks noGrp="1"/>
          </p:cNvSpPr>
          <p:nvPr/>
        </p:nvSpPr>
        <p:spPr>
          <a:xfrm flipV="1">
            <a:off x="8060055" y="4996912"/>
            <a:ext cx="57150" cy="7463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79" name="直接连接符 78"/>
          <p:cNvSpPr>
            <a:spLocks noGrp="1"/>
          </p:cNvSpPr>
          <p:nvPr/>
        </p:nvSpPr>
        <p:spPr>
          <a:xfrm flipV="1">
            <a:off x="8117205" y="4970474"/>
            <a:ext cx="57150" cy="26438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80" name="直接连接符 79"/>
          <p:cNvSpPr>
            <a:spLocks noGrp="1"/>
          </p:cNvSpPr>
          <p:nvPr/>
        </p:nvSpPr>
        <p:spPr>
          <a:xfrm flipV="1">
            <a:off x="8174355" y="4917546"/>
            <a:ext cx="57150" cy="52928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81" name="直接连接符 80"/>
          <p:cNvSpPr>
            <a:spLocks noGrp="1"/>
          </p:cNvSpPr>
          <p:nvPr/>
        </p:nvSpPr>
        <p:spPr>
          <a:xfrm>
            <a:off x="8231505" y="4917546"/>
            <a:ext cx="57150" cy="60164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82" name="直接连接符 81"/>
          <p:cNvSpPr>
            <a:spLocks noGrp="1"/>
          </p:cNvSpPr>
          <p:nvPr/>
        </p:nvSpPr>
        <p:spPr>
          <a:xfrm>
            <a:off x="8288655" y="4977710"/>
            <a:ext cx="57150" cy="101199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83" name="直接连接符 82"/>
          <p:cNvSpPr>
            <a:spLocks noGrp="1"/>
          </p:cNvSpPr>
          <p:nvPr/>
        </p:nvSpPr>
        <p:spPr>
          <a:xfrm flipV="1">
            <a:off x="8345805" y="5024130"/>
            <a:ext cx="57150" cy="54779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84" name="直接连接符 83"/>
          <p:cNvSpPr>
            <a:spLocks noGrp="1"/>
          </p:cNvSpPr>
          <p:nvPr/>
        </p:nvSpPr>
        <p:spPr>
          <a:xfrm>
            <a:off x="8402955" y="5024130"/>
            <a:ext cx="57150" cy="20434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85" name="直接连接符 84"/>
          <p:cNvSpPr>
            <a:spLocks noGrp="1"/>
          </p:cNvSpPr>
          <p:nvPr/>
        </p:nvSpPr>
        <p:spPr>
          <a:xfrm flipV="1">
            <a:off x="8460105" y="5007913"/>
            <a:ext cx="57150" cy="36650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86" name="直接连接符 85"/>
          <p:cNvSpPr>
            <a:spLocks noGrp="1"/>
          </p:cNvSpPr>
          <p:nvPr/>
        </p:nvSpPr>
        <p:spPr>
          <a:xfrm flipV="1">
            <a:off x="8517255" y="4894706"/>
            <a:ext cx="57150" cy="113207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87" name="直接连接符 86"/>
          <p:cNvSpPr>
            <a:spLocks noGrp="1"/>
          </p:cNvSpPr>
          <p:nvPr/>
        </p:nvSpPr>
        <p:spPr>
          <a:xfrm>
            <a:off x="8574405" y="4894706"/>
            <a:ext cx="57150" cy="77882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88" name="直接连接符 87"/>
          <p:cNvSpPr>
            <a:spLocks noGrp="1"/>
          </p:cNvSpPr>
          <p:nvPr/>
        </p:nvSpPr>
        <p:spPr>
          <a:xfrm>
            <a:off x="8631555" y="4972588"/>
            <a:ext cx="57150" cy="37646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89" name="直接连接符 88"/>
          <p:cNvSpPr>
            <a:spLocks noGrp="1"/>
          </p:cNvSpPr>
          <p:nvPr/>
        </p:nvSpPr>
        <p:spPr>
          <a:xfrm>
            <a:off x="8688705" y="5010234"/>
            <a:ext cx="57150" cy="11959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90" name="直接连接符 89"/>
          <p:cNvSpPr>
            <a:spLocks noGrp="1"/>
          </p:cNvSpPr>
          <p:nvPr/>
        </p:nvSpPr>
        <p:spPr>
          <a:xfrm>
            <a:off x="8745855" y="5022193"/>
            <a:ext cx="57150" cy="51303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91" name="直接连接符 90"/>
          <p:cNvSpPr>
            <a:spLocks noGrp="1"/>
          </p:cNvSpPr>
          <p:nvPr/>
        </p:nvSpPr>
        <p:spPr>
          <a:xfrm flipV="1">
            <a:off x="8803005" y="5049089"/>
            <a:ext cx="57150" cy="24407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92" name="直接连接符 91"/>
          <p:cNvSpPr>
            <a:spLocks noGrp="1"/>
          </p:cNvSpPr>
          <p:nvPr/>
        </p:nvSpPr>
        <p:spPr>
          <a:xfrm flipV="1">
            <a:off x="8860155" y="4910854"/>
            <a:ext cx="57150" cy="138235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93" name="直接连接符 92"/>
          <p:cNvSpPr>
            <a:spLocks noGrp="1"/>
          </p:cNvSpPr>
          <p:nvPr/>
        </p:nvSpPr>
        <p:spPr>
          <a:xfrm>
            <a:off x="8917305" y="4910854"/>
            <a:ext cx="57150" cy="74648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94" name="直接连接符 93"/>
          <p:cNvSpPr>
            <a:spLocks noGrp="1"/>
          </p:cNvSpPr>
          <p:nvPr/>
        </p:nvSpPr>
        <p:spPr>
          <a:xfrm flipV="1">
            <a:off x="8974455" y="4941730"/>
            <a:ext cx="57150" cy="43772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95" name="直接连接符 94"/>
          <p:cNvSpPr>
            <a:spLocks noGrp="1"/>
          </p:cNvSpPr>
          <p:nvPr/>
        </p:nvSpPr>
        <p:spPr>
          <a:xfrm>
            <a:off x="9031605" y="4941730"/>
            <a:ext cx="57150" cy="57613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96" name="直接连接符 95"/>
          <p:cNvSpPr>
            <a:spLocks noGrp="1"/>
          </p:cNvSpPr>
          <p:nvPr/>
        </p:nvSpPr>
        <p:spPr>
          <a:xfrm>
            <a:off x="9088755" y="4999343"/>
            <a:ext cx="57150" cy="74479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97" name="直接连接符 96"/>
          <p:cNvSpPr>
            <a:spLocks noGrp="1"/>
          </p:cNvSpPr>
          <p:nvPr/>
        </p:nvSpPr>
        <p:spPr>
          <a:xfrm flipV="1">
            <a:off x="9145905" y="5070759"/>
            <a:ext cx="57150" cy="3063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98" name="直接连接符 97"/>
          <p:cNvSpPr>
            <a:spLocks noGrp="1"/>
          </p:cNvSpPr>
          <p:nvPr/>
        </p:nvSpPr>
        <p:spPr>
          <a:xfrm flipV="1">
            <a:off x="9203055" y="4958204"/>
            <a:ext cx="57150" cy="112556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99" name="直接连接符 98"/>
          <p:cNvSpPr>
            <a:spLocks noGrp="1"/>
          </p:cNvSpPr>
          <p:nvPr/>
        </p:nvSpPr>
        <p:spPr>
          <a:xfrm>
            <a:off x="9260205" y="4958204"/>
            <a:ext cx="57150" cy="56408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100" name="直接连接符 99"/>
          <p:cNvSpPr>
            <a:spLocks noGrp="1"/>
          </p:cNvSpPr>
          <p:nvPr/>
        </p:nvSpPr>
        <p:spPr>
          <a:xfrm flipV="1">
            <a:off x="9317355" y="4900782"/>
            <a:ext cx="57150" cy="113830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101" name="直接连接符 100"/>
          <p:cNvSpPr>
            <a:spLocks noGrp="1"/>
          </p:cNvSpPr>
          <p:nvPr/>
        </p:nvSpPr>
        <p:spPr>
          <a:xfrm>
            <a:off x="9374505" y="4900782"/>
            <a:ext cx="57150" cy="67490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102" name="直接连接符 101"/>
          <p:cNvSpPr>
            <a:spLocks noGrp="1"/>
          </p:cNvSpPr>
          <p:nvPr/>
        </p:nvSpPr>
        <p:spPr>
          <a:xfrm>
            <a:off x="9431655" y="4968272"/>
            <a:ext cx="57150" cy="79819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103" name="直接连接符 102"/>
          <p:cNvSpPr>
            <a:spLocks noGrp="1"/>
          </p:cNvSpPr>
          <p:nvPr/>
        </p:nvSpPr>
        <p:spPr>
          <a:xfrm>
            <a:off x="9488805" y="5048091"/>
            <a:ext cx="57150" cy="9934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104" name="直接连接符 103"/>
          <p:cNvSpPr>
            <a:spLocks noGrp="1"/>
          </p:cNvSpPr>
          <p:nvPr/>
        </p:nvSpPr>
        <p:spPr>
          <a:xfrm flipV="1">
            <a:off x="9545955" y="5016569"/>
            <a:ext cx="57150" cy="41456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105" name="直接连接符 104"/>
          <p:cNvSpPr>
            <a:spLocks noGrp="1"/>
          </p:cNvSpPr>
          <p:nvPr/>
        </p:nvSpPr>
        <p:spPr>
          <a:xfrm>
            <a:off x="9603105" y="5016569"/>
            <a:ext cx="57150" cy="31763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106" name="直接连接符 105"/>
          <p:cNvSpPr>
            <a:spLocks noGrp="1"/>
          </p:cNvSpPr>
          <p:nvPr/>
        </p:nvSpPr>
        <p:spPr>
          <a:xfrm flipV="1">
            <a:off x="9660255" y="4901907"/>
            <a:ext cx="57150" cy="146425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107" name="直接连接符 106"/>
          <p:cNvSpPr>
            <a:spLocks noGrp="1"/>
          </p:cNvSpPr>
          <p:nvPr/>
        </p:nvSpPr>
        <p:spPr>
          <a:xfrm>
            <a:off x="9717405" y="4901907"/>
            <a:ext cx="57150" cy="45194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108" name="直接连接符 107"/>
          <p:cNvSpPr>
            <a:spLocks noGrp="1"/>
          </p:cNvSpPr>
          <p:nvPr/>
        </p:nvSpPr>
        <p:spPr>
          <a:xfrm>
            <a:off x="9774555" y="4947101"/>
            <a:ext cx="57150" cy="62498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109" name="直接连接符 108"/>
          <p:cNvSpPr>
            <a:spLocks noGrp="1"/>
          </p:cNvSpPr>
          <p:nvPr/>
        </p:nvSpPr>
        <p:spPr>
          <a:xfrm>
            <a:off x="9831705" y="5009598"/>
            <a:ext cx="57150" cy="2671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110" name="直接连接符 109"/>
          <p:cNvSpPr>
            <a:spLocks noGrp="1"/>
          </p:cNvSpPr>
          <p:nvPr/>
        </p:nvSpPr>
        <p:spPr>
          <a:xfrm>
            <a:off x="9888855" y="5012270"/>
            <a:ext cx="57150" cy="50259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111" name="直接连接符 110"/>
          <p:cNvSpPr>
            <a:spLocks noGrp="1"/>
          </p:cNvSpPr>
          <p:nvPr/>
        </p:nvSpPr>
        <p:spPr>
          <a:xfrm>
            <a:off x="9946005" y="5062529"/>
            <a:ext cx="57150" cy="7818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112" name="直接连接符 111"/>
          <p:cNvSpPr>
            <a:spLocks noGrp="1"/>
          </p:cNvSpPr>
          <p:nvPr/>
        </p:nvSpPr>
        <p:spPr>
          <a:xfrm flipV="1">
            <a:off x="10003155" y="4940874"/>
            <a:ext cx="57150" cy="129473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113" name="直接连接符 112"/>
          <p:cNvSpPr>
            <a:spLocks noGrp="1"/>
          </p:cNvSpPr>
          <p:nvPr/>
        </p:nvSpPr>
        <p:spPr>
          <a:xfrm>
            <a:off x="10060305" y="4940874"/>
            <a:ext cx="57150" cy="9222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114" name="直接连接符 113"/>
          <p:cNvSpPr>
            <a:spLocks noGrp="1"/>
          </p:cNvSpPr>
          <p:nvPr/>
        </p:nvSpPr>
        <p:spPr>
          <a:xfrm>
            <a:off x="10117455" y="4950095"/>
            <a:ext cx="57150" cy="25756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115" name="直接连接符 114"/>
          <p:cNvSpPr>
            <a:spLocks noGrp="1"/>
          </p:cNvSpPr>
          <p:nvPr/>
        </p:nvSpPr>
        <p:spPr>
          <a:xfrm flipV="1">
            <a:off x="10174605" y="4951474"/>
            <a:ext cx="57150" cy="24378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116" name="直接连接符 115"/>
          <p:cNvSpPr>
            <a:spLocks noGrp="1"/>
          </p:cNvSpPr>
          <p:nvPr/>
        </p:nvSpPr>
        <p:spPr>
          <a:xfrm>
            <a:off x="10231755" y="4951474"/>
            <a:ext cx="57150" cy="128158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117" name="直接连接符 116"/>
          <p:cNvSpPr>
            <a:spLocks noGrp="1"/>
          </p:cNvSpPr>
          <p:nvPr/>
        </p:nvSpPr>
        <p:spPr>
          <a:xfrm flipV="1">
            <a:off x="10288905" y="5067472"/>
            <a:ext cx="57150" cy="12160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118" name="直接连接符 117"/>
          <p:cNvSpPr>
            <a:spLocks noGrp="1"/>
          </p:cNvSpPr>
          <p:nvPr/>
        </p:nvSpPr>
        <p:spPr>
          <a:xfrm flipV="1">
            <a:off x="10346055" y="4997392"/>
            <a:ext cx="57150" cy="70080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119" name="直接连接符 118"/>
          <p:cNvSpPr>
            <a:spLocks noGrp="1"/>
          </p:cNvSpPr>
          <p:nvPr/>
        </p:nvSpPr>
        <p:spPr>
          <a:xfrm flipV="1">
            <a:off x="10403205" y="4980131"/>
            <a:ext cx="57150" cy="17260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120" name="直接连接符 119"/>
          <p:cNvSpPr>
            <a:spLocks noGrp="1"/>
          </p:cNvSpPr>
          <p:nvPr/>
        </p:nvSpPr>
        <p:spPr>
          <a:xfrm flipV="1">
            <a:off x="10460355" y="4960319"/>
            <a:ext cx="57150" cy="19812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121" name="直接连接符 120"/>
          <p:cNvSpPr>
            <a:spLocks noGrp="1"/>
          </p:cNvSpPr>
          <p:nvPr/>
        </p:nvSpPr>
        <p:spPr>
          <a:xfrm flipV="1">
            <a:off x="10517505" y="4902546"/>
            <a:ext cx="57150" cy="57774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122" name="直接连接符 121"/>
          <p:cNvSpPr>
            <a:spLocks noGrp="1"/>
          </p:cNvSpPr>
          <p:nvPr/>
        </p:nvSpPr>
        <p:spPr>
          <a:xfrm>
            <a:off x="10574655" y="4902546"/>
            <a:ext cx="57150" cy="162459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123" name="直接连接符 122"/>
          <p:cNvSpPr>
            <a:spLocks noGrp="1"/>
          </p:cNvSpPr>
          <p:nvPr/>
        </p:nvSpPr>
        <p:spPr>
          <a:xfrm flipV="1">
            <a:off x="10631805" y="5036585"/>
            <a:ext cx="57150" cy="28420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124" name="直接连接符 123"/>
          <p:cNvSpPr>
            <a:spLocks noGrp="1"/>
          </p:cNvSpPr>
          <p:nvPr/>
        </p:nvSpPr>
        <p:spPr>
          <a:xfrm>
            <a:off x="10688955" y="5036585"/>
            <a:ext cx="57150" cy="8385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125" name="直接连接符 124"/>
          <p:cNvSpPr>
            <a:spLocks noGrp="1"/>
          </p:cNvSpPr>
          <p:nvPr/>
        </p:nvSpPr>
        <p:spPr>
          <a:xfrm flipV="1">
            <a:off x="10746105" y="5026590"/>
            <a:ext cx="57150" cy="18380"/>
          </a:xfrm>
          <a:prstGeom prst="line">
            <a:avLst/>
          </a:prstGeom>
          <a:noFill/>
          <a:ln w="20955">
            <a:noFill/>
            <a:prstDash val="solid"/>
          </a:ln>
        </p:spPr>
        <p:txBody>
          <a:bodyPr/>
          <a:p/>
        </p:txBody>
      </p:sp>
      <p:sp>
        <p:nvSpPr>
          <p:cNvPr id="126" name="矩形 125"/>
          <p:cNvSpPr>
            <a:spLocks noGrp="1"/>
          </p:cNvSpPr>
          <p:nvPr/>
        </p:nvSpPr>
        <p:spPr>
          <a:xfrm>
            <a:off x="7164705" y="4342765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defRPr sz="1200" b="1">
                <a:solidFill>
                  <a:srgbClr val="246BC4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200" b="1">
                <a:solidFill>
                  <a:srgbClr val="246BC4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Fp1</a:t>
            </a:r>
            <a:endParaRPr sz="1200" b="1">
              <a:solidFill>
                <a:srgbClr val="246BC4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27" name="矩形 126"/>
          <p:cNvSpPr>
            <a:spLocks noGrp="1"/>
          </p:cNvSpPr>
          <p:nvPr/>
        </p:nvSpPr>
        <p:spPr>
          <a:xfrm>
            <a:off x="7164705" y="486664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defRPr sz="1200" b="1">
                <a:solidFill>
                  <a:srgbClr val="2A9D9F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200" b="1">
                <a:solidFill>
                  <a:srgbClr val="7A8DA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Fp2</a:t>
            </a:r>
            <a:endParaRPr sz="1200" b="1">
              <a:solidFill>
                <a:srgbClr val="2A9D9F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28" name="矩形 127"/>
          <p:cNvSpPr>
            <a:spLocks noGrp="1"/>
          </p:cNvSpPr>
          <p:nvPr/>
        </p:nvSpPr>
        <p:spPr>
          <a:xfrm>
            <a:off x="7850505" y="5571490"/>
            <a:ext cx="2762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275" b="1">
                <a:solidFill>
                  <a:srgbClr val="5B6B7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275" b="1">
                <a:solidFill>
                  <a:srgbClr val="5B6B7C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2 channels · unseen participant</a:t>
            </a:r>
            <a:endParaRPr sz="1275" b="1">
              <a:solidFill>
                <a:srgbClr val="5B6B7C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pic>
        <p:nvPicPr>
          <p:cNvPr id="130" name="图片 129" descr="浙江大学校徽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400" y="116840"/>
            <a:ext cx="1190625" cy="1190625"/>
          </a:xfrm>
          <a:prstGeom prst="rect">
            <a:avLst/>
          </a:prstGeom>
          <a:ln>
            <a:solidFill/>
          </a:ln>
        </p:spPr>
      </p:pic>
      <p:sp>
        <p:nvSpPr>
          <p:cNvPr id="131" name="文本框 130"/>
          <p:cNvSpPr txBox="1"/>
          <p:nvPr/>
        </p:nvSpPr>
        <p:spPr>
          <a:xfrm>
            <a:off x="1269365" y="4996815"/>
            <a:ext cx="406400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sz="1100">
                <a:solidFill>
                  <a:srgbClr val="5C6978"/>
                </a:solidFill>
                <a:latin typeface="Microsoft YaHei"/>
              </a:rPr>
              <a:t>项目仓库：github.com/wcycn/FrontEEG-Transfer</a:t>
            </a:r>
            <a:endParaRPr lang="zh-CN" altLang="en-US">
              <a:ea typeface="宋体" charset="0"/>
            </a:endParaRPr>
          </a:p>
        </p:txBody>
      </p:sp>
      <p:pic>
        <p:nvPicPr>
          <p:cNvPr id="132" name="图片 131"/>
          <p:cNvPicPr>
            <a:picLocks noChangeAspect="1"/>
          </p:cNvPicPr>
          <p:nvPr/>
        </p:nvPicPr>
        <p:blipFill>
          <a:blip r:embed="rId2">
            <a:clrChange>
              <a:clrFrom>
                <a:srgbClr val="111827">
                  <a:alpha val="100000"/>
                </a:srgbClr>
              </a:clrFrom>
              <a:clrTo>
                <a:srgbClr val="111827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52080" y="1484630"/>
            <a:ext cx="2590800" cy="2105660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slide-2-title"/>
          <p:cNvSpPr>
            <a:spLocks noGrp="1"/>
          </p:cNvSpPr>
          <p:nvPr/>
        </p:nvSpPr>
        <p:spPr>
          <a:xfrm>
            <a:off x="571500" y="26670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2625" b="1">
                <a:solidFill>
                  <a:srgbClr val="123B6D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2625" b="1">
                <a:solidFill>
                  <a:srgbClr val="123B6D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可穿戴设备的真正瓶颈是任务负荷与 EEG 迁移之间的错位</a:t>
            </a:r>
            <a:endParaRPr sz="2625" b="1">
              <a:solidFill>
                <a:srgbClr val="123B6D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71500" y="914400"/>
            <a:ext cx="11049000" cy="0"/>
          </a:xfrm>
          <a:prstGeom prst="line">
            <a:avLst/>
          </a:prstGeom>
          <a:noFill/>
          <a:ln w="11430">
            <a:noFill/>
            <a:prstDash val="solid"/>
          </a:ln>
        </p:spPr>
        <p:txBody>
          <a:bodyPr/>
          <a:p/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400" y="1095375"/>
            <a:ext cx="7649800" cy="4305300"/>
          </a:xfrm>
          <a:prstGeom prst="roundRect">
            <a:avLst>
              <a:gd name="adj" fmla="val 2212"/>
            </a:avLst>
          </a:prstGeom>
          <a:ln>
            <a:solidFill/>
          </a:ln>
        </p:spPr>
      </p:pic>
      <p:sp>
        <p:nvSpPr>
          <p:cNvPr id="5" name="圆角矩形 4"/>
          <p:cNvSpPr>
            <a:spLocks noGrp="1"/>
          </p:cNvSpPr>
          <p:nvPr/>
        </p:nvSpPr>
        <p:spPr>
          <a:xfrm>
            <a:off x="8524875" y="1257300"/>
            <a:ext cx="457200" cy="361950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650" b="1">
                <a:solidFill>
                  <a:srgbClr val="246BC4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650" b="1">
                <a:solidFill>
                  <a:srgbClr val="246BC4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01</a:t>
            </a:r>
            <a:endParaRPr sz="1650" b="1">
              <a:solidFill>
                <a:srgbClr val="246BC4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096375" y="1171575"/>
            <a:ext cx="25527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425" b="1">
                <a:solidFill>
                  <a:srgbClr val="15263A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425" b="1">
                <a:solidFill>
                  <a:srgbClr val="15263A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实验室 EEG 通常拥有更多通道和更稳定的接触</a:t>
            </a:r>
            <a:endParaRPr sz="1425" b="1">
              <a:solidFill>
                <a:srgbClr val="15263A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8524875" y="2047875"/>
            <a:ext cx="3105150" cy="0"/>
          </a:xfrm>
          <a:prstGeom prst="line">
            <a:avLst/>
          </a:prstGeom>
          <a:noFill/>
          <a:ln w="9525">
            <a:noFill/>
            <a:prstDash val="solid"/>
          </a:ln>
        </p:spPr>
        <p:txBody>
          <a:bodyPr/>
          <a:p/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524875" y="2305050"/>
            <a:ext cx="457200" cy="361950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650" b="1">
                <a:solidFill>
                  <a:srgbClr val="246BC4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650" b="1">
                <a:solidFill>
                  <a:srgbClr val="246BC4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02</a:t>
            </a:r>
            <a:endParaRPr sz="1650" b="1">
              <a:solidFill>
                <a:srgbClr val="246BC4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096375" y="2190750"/>
            <a:ext cx="25527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00" b="1">
                <a:solidFill>
                  <a:srgbClr val="123B6D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500" b="1">
                <a:solidFill>
                  <a:srgbClr val="123B6D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可穿戴设备只提供 Fp1 和 Fp2</a:t>
            </a:r>
            <a:endParaRPr sz="1500" b="1">
              <a:solidFill>
                <a:srgbClr val="123B6D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8524875" y="3028950"/>
            <a:ext cx="3105150" cy="0"/>
          </a:xfrm>
          <a:prstGeom prst="line">
            <a:avLst/>
          </a:prstGeom>
          <a:noFill/>
          <a:ln w="9525">
            <a:noFill/>
            <a:prstDash val="solid"/>
          </a:ln>
        </p:spPr>
        <p:txBody>
          <a:bodyPr/>
          <a:p/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524875" y="3286125"/>
            <a:ext cx="457200" cy="361950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650" b="1">
                <a:solidFill>
                  <a:srgbClr val="E76F51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650" b="1">
                <a:solidFill>
                  <a:srgbClr val="246BC4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03</a:t>
            </a:r>
            <a:endParaRPr sz="1650" b="1">
              <a:solidFill>
                <a:srgbClr val="E76F51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096375" y="3162300"/>
            <a:ext cx="25527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425" b="1">
                <a:solidFill>
                  <a:srgbClr val="15263A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425" b="1">
                <a:solidFill>
                  <a:srgbClr val="15263A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新受试者、眨眼、头动与硬件参考差异会同时改变信号分布</a:t>
            </a:r>
            <a:endParaRPr sz="1425" b="1">
              <a:solidFill>
                <a:srgbClr val="15263A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66750" y="5715000"/>
            <a:ext cx="10858500" cy="609600"/>
          </a:xfrm>
          <a:prstGeom prst="roundRect">
            <a:avLst>
              <a:gd name="adj" fmla="val 15625"/>
            </a:avLst>
          </a:prstGeom>
          <a:solidFill>
            <a:srgbClr val="123B6D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研究主线：从源受试者学习群体表示，并迁移到完全未见的目标受试者。</a:t>
            </a:r>
            <a:endParaRPr sz="1725" b="1">
              <a:solidFill>
                <a:srgbClr val="FFFFFF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71500" y="65341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825" b="0">
                <a:solidFill>
                  <a:srgbClr val="7A8DA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defRPr>
            </a:pPr>
            <a:r>
              <a:rPr sz="825" b="0">
                <a:solidFill>
                  <a:srgbClr val="7A8DA2"/>
                </a:solidFill>
                <a:latin typeface="Noto Sans CJK SC" panose="020B0500000000000000" charset="-122"/>
                <a:ea typeface="Noto Sans CJK SC" panose="020B0500000000000000" charset="-122"/>
                <a:cs typeface="Noto Sans CJK SC" panose="020B0500000000000000" charset="-122"/>
              </a:rPr>
              <a:t>FrontEEGNet · 王晨宇 · 浙江大学</a:t>
            </a:r>
            <a:endParaRPr sz="825" b="0">
              <a:solidFill>
                <a:srgbClr val="7A8DA2"/>
              </a:solidFill>
              <a:latin typeface="Noto Sans CJK SC" panose="020B0500000000000000" charset="-122"/>
              <a:ea typeface="Noto Sans CJK SC" panose="020B0500000000000000" charset="-122"/>
              <a:cs typeface="Noto Sans CJK SC" panose="020B0500000000000000" charset="-122"/>
            </a:endParaRPr>
          </a:p>
        </p:txBody>
      </p:sp>
      <p:pic>
        <p:nvPicPr>
          <p:cNvPr id="130" name="图片 129" descr="浙江大学校徽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6630" y="64135"/>
            <a:ext cx="935990" cy="935990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9372600" cy="53035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63060"/>
                </a:solidFill>
                <a:latin typeface="Microsoft YaHei"/>
              </a:rPr>
              <a:t>COG-BCI MATB：四项模拟飞行任务构成三类心理负荷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50392"/>
            <a:ext cx="10954512" cy="0"/>
          </a:xfrm>
          <a:prstGeom prst="line">
            <a:avLst/>
          </a:prstGeom>
          <a:ln w="12700">
            <a:solidFill>
              <a:srgbClr val="063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10003536" y="246888"/>
            <a:ext cx="987552" cy="329184"/>
          </a:xfrm>
          <a:prstGeom prst="roundRect">
            <a:avLst>
              <a:gd name="adj" fmla="val 5000"/>
            </a:avLst>
          </a:prstGeom>
          <a:solidFill>
            <a:srgbClr val="E1EE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03536" y="246888"/>
            <a:ext cx="987552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25BAA"/>
                </a:solidFill>
                <a:latin typeface="Aptos"/>
              </a:rPr>
              <a:t>PARADIGM</a:t>
            </a:r>
          </a:p>
        </p:txBody>
      </p:sp>
      <p:pic>
        <p:nvPicPr>
          <p:cNvPr id="6" name="Picture 5" descr="image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3968" y="73152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75488" y="1042415"/>
            <a:ext cx="7644383" cy="51572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1143000"/>
            <a:ext cx="7388352" cy="48828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5989320"/>
            <a:ext cx="7150608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978"/>
                </a:solidFill>
                <a:latin typeface="Aptos"/>
              </a:rPr>
              <a:t>Hinss et al., Scientific Data, 2023, Fig.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1170432"/>
            <a:ext cx="3054096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63060"/>
                </a:solidFill>
                <a:latin typeface="Microsoft YaHei"/>
              </a:rPr>
              <a:t>实验范式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1664208"/>
            <a:ext cx="3072384" cy="423367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2430"/>
                </a:solidFill>
                <a:latin typeface="Microsoft YaHei"/>
              </a:rPr>
              <a:t>参与者在同一界面中同时完成追踪、系统监控、资源管理和通信四项任务。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2430"/>
                </a:solidFill>
                <a:latin typeface="Microsoft YaHei"/>
              </a:rPr>
              <a:t>Easy：追踪 + 系统监控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2430"/>
                </a:solidFill>
                <a:latin typeface="Microsoft YaHei"/>
              </a:rPr>
              <a:t>Medium：加入资源管理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2430"/>
                </a:solidFill>
                <a:latin typeface="Microsoft YaHei"/>
              </a:rPr>
              <a:t>Difficult：加入通信，并提高追踪难度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2430"/>
                </a:solidFill>
                <a:latin typeface="Microsoft YaHei"/>
              </a:rPr>
              <a:t>每个难度块持续 5 min，EEG 与任务事件同步记录。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A2430"/>
                </a:solidFill>
                <a:latin typeface="Microsoft YaHei"/>
              </a:rPr>
              <a:t>质量审计后保留 26 名参与者。本文仅使用 Fp1/Fp2，并按照 4 s 窗、2 s 步长切分。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94192" y="5833872"/>
            <a:ext cx="3072384" cy="0"/>
          </a:xfrm>
          <a:prstGeom prst="line">
            <a:avLst/>
          </a:prstGeom>
          <a:ln w="10160">
            <a:solidFill>
              <a:srgbClr val="B8C4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394192" y="5897880"/>
            <a:ext cx="3072384" cy="24688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5BAA"/>
                </a:solidFill>
                <a:latin typeface="Microsoft YaHei"/>
              </a:rPr>
              <a:t>任务难度条件 → 三分类标签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556248"/>
            <a:ext cx="4206240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</a:rPr>
              <a:t>FrontEEGNet · 王晨宇 · 浙江大学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9372600" cy="53035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63060"/>
                </a:solidFill>
                <a:latin typeface="Microsoft YaHei"/>
              </a:rPr>
              <a:t>FrontEEGNet：双通道 EEGNet 与严格跨受试者迁移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50392"/>
            <a:ext cx="10954512" cy="0"/>
          </a:xfrm>
          <a:prstGeom prst="line">
            <a:avLst/>
          </a:prstGeom>
          <a:ln w="12700">
            <a:solidFill>
              <a:srgbClr val="063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10003536" y="246888"/>
            <a:ext cx="987552" cy="329184"/>
          </a:xfrm>
          <a:prstGeom prst="roundRect">
            <a:avLst>
              <a:gd name="adj" fmla="val 8000"/>
            </a:avLst>
          </a:prstGeom>
          <a:solidFill>
            <a:srgbClr val="E1EE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03536" y="246888"/>
            <a:ext cx="987552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25BAA"/>
                </a:solidFill>
                <a:latin typeface="Aptos"/>
              </a:rPr>
              <a:t>METHOD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005840"/>
            <a:ext cx="7680960" cy="5120640"/>
          </a:xfrm>
          <a:prstGeom prst="rect">
            <a:avLst/>
          </a:prstGeom>
          <a:ln>
            <a:solidFill/>
          </a:ln>
        </p:spPr>
      </p:pic>
      <p:sp>
        <p:nvSpPr>
          <p:cNvPr id="7" name="TextBox 6"/>
          <p:cNvSpPr txBox="1"/>
          <p:nvPr/>
        </p:nvSpPr>
        <p:spPr>
          <a:xfrm>
            <a:off x="8412480" y="1060704"/>
            <a:ext cx="3172968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63060"/>
                </a:solidFill>
                <a:latin typeface="Microsoft YaHei"/>
              </a:rPr>
              <a:t>模型结构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499616"/>
            <a:ext cx="3182112" cy="15727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2430"/>
                </a:solidFill>
                <a:latin typeface="Microsoft YaHei"/>
              </a:rPr>
              <a:t>Fp1/Fp2 原始波形输入（B×1×2×1000）。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A2430"/>
                </a:solidFill>
                <a:latin typeface="Microsoft YaHei"/>
              </a:rPr>
              <a:t>1×125 时间卷积提取节律模式；2×1 depthwise 空间卷积融合双通道；separable convolution 与全局平均池化得到 16 维特征；Linear 16→3 输出负荷类别。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3236976"/>
            <a:ext cx="3182112" cy="530352"/>
          </a:xfrm>
          <a:prstGeom prst="roundRect">
            <a:avLst>
              <a:gd name="adj" fmla="val 8000"/>
            </a:avLst>
          </a:prstGeom>
          <a:solidFill>
            <a:srgbClr val="E1EE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3236976"/>
            <a:ext cx="3182112" cy="53035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63060"/>
                </a:solidFill>
                <a:latin typeface="Microsoft YaHei"/>
              </a:rPr>
              <a:t>1,915 个可训练参数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005072"/>
            <a:ext cx="3172968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63060"/>
                </a:solidFill>
                <a:latin typeface="Microsoft YaHei"/>
              </a:rPr>
              <a:t>迁移协议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407408"/>
            <a:ext cx="3182112" cy="115214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2430"/>
                </a:solidFill>
                <a:latin typeface="Microsoft YaHei"/>
              </a:rPr>
              <a:t>25 名源受试者：S1+S2 训练，S3 验证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2430"/>
                </a:solidFill>
                <a:latin typeface="Microsoft YaHei"/>
              </a:rPr>
              <a:t>留出目标受试者：S3 最终测试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2430"/>
                </a:solidFill>
                <a:latin typeface="Microsoft YaHei"/>
              </a:rPr>
              <a:t>可选微调：只使用目标 S1 少量标签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A2430"/>
                </a:solidFill>
                <a:latin typeface="Microsoft YaHei"/>
              </a:rPr>
              <a:t>目标 S3 始终不参与训练与选模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5650992"/>
            <a:ext cx="3182112" cy="34747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C6978"/>
                </a:solidFill>
                <a:latin typeface="Aptos"/>
              </a:rPr>
              <a:t>26-fold LOSO · no target-test leakage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556248"/>
            <a:ext cx="4206240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</a:rPr>
              <a:t>FrontEEGNet · 王晨宇 · 浙江大学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</a:rPr>
              <a:t>4</a:t>
            </a:r>
          </a:p>
        </p:txBody>
      </p:sp>
      <p:pic>
        <p:nvPicPr>
          <p:cNvPr id="16" name="Picture 15" descr="image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3968" y="73152"/>
            <a:ext cx="713232" cy="713232"/>
          </a:xfrm>
          <a:prstGeom prst="rect">
            <a:avLst/>
          </a:prstGeom>
          <a:ln>
            <a:solid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9372600" cy="53035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63060"/>
                </a:solidFill>
                <a:latin typeface="Microsoft YaHei"/>
              </a:rPr>
              <a:t>三组实验共同检验跨受试者迁移、微调与标签效率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50392"/>
            <a:ext cx="10954512" cy="0"/>
          </a:xfrm>
          <a:prstGeom prst="line">
            <a:avLst/>
          </a:prstGeom>
          <a:ln w="12700">
            <a:solidFill>
              <a:srgbClr val="063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10003536" y="246888"/>
            <a:ext cx="987552" cy="329184"/>
          </a:xfrm>
          <a:prstGeom prst="roundRect">
            <a:avLst>
              <a:gd name="adj" fmla="val 8000"/>
            </a:avLst>
          </a:prstGeom>
          <a:solidFill>
            <a:srgbClr val="E1EEFC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03536" y="246888"/>
            <a:ext cx="987552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25BAA"/>
                </a:solidFill>
                <a:latin typeface="Aptos"/>
              </a:rPr>
              <a:t>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1097280"/>
            <a:ext cx="3675887" cy="521208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61104" y="1097280"/>
            <a:ext cx="3675887" cy="521208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01583" y="1097280"/>
            <a:ext cx="3675887" cy="5212080"/>
          </a:xfrm>
          <a:prstGeom prst="roundRect">
            <a:avLst>
              <a:gd name="adj" fmla="val 8000"/>
            </a:avLst>
          </a:prstGeom>
          <a:solidFill>
            <a:srgbClr val="FAFCFE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225296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63060"/>
                </a:solidFill>
                <a:latin typeface="Microsoft YaHei"/>
              </a:rPr>
              <a:t>A  MATB 模型对比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536192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978"/>
                </a:solidFill>
                <a:latin typeface="Aptos"/>
              </a:rPr>
              <a:t>26-fold LOSO · balanced accuracy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66928" y="1810512"/>
          <a:ext cx="3364992" cy="3584448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66928" y="5541264"/>
            <a:ext cx="3364992" cy="512064"/>
          </a:xfrm>
          <a:prstGeom prst="roundRect">
            <a:avLst>
              <a:gd name="adj" fmla="val 8000"/>
            </a:avLst>
          </a:prstGeom>
          <a:solidFill>
            <a:srgbClr val="E1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577840"/>
            <a:ext cx="3218688" cy="42062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63060"/>
                </a:solidFill>
                <a:latin typeface="Microsoft YaHei"/>
              </a:rPr>
              <a:t>54.72% · 比 PSD-MLP 高 5.57 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1225296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63060"/>
                </a:solidFill>
                <a:latin typeface="Microsoft YaHei"/>
              </a:rPr>
              <a:t>B  微调方式对比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1536192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978"/>
                </a:solidFill>
                <a:latin typeface="Aptos"/>
              </a:rPr>
              <a:t>target S1: 16 labels/class · target S3: test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4407408" y="1810512"/>
          <a:ext cx="3364992" cy="3584448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4407408" y="5541264"/>
            <a:ext cx="3364992" cy="512064"/>
          </a:xfrm>
          <a:prstGeom prst="roundRect">
            <a:avLst>
              <a:gd name="adj" fmla="val 8000"/>
            </a:avLst>
          </a:prstGeom>
          <a:solidFill>
            <a:srgbClr val="E1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5577840"/>
            <a:ext cx="3218688" cy="42062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63060"/>
                </a:solidFill>
                <a:latin typeface="Microsoft YaHei"/>
              </a:rPr>
              <a:t>源初始化 &gt; scratch；微调 &lt; 零校准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225296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63060"/>
                </a:solidFill>
                <a:latin typeface="Microsoft YaHei"/>
              </a:rPr>
              <a:t>C  标签数量对比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1536192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978"/>
                </a:solidFill>
                <a:latin typeface="Aptos"/>
              </a:rPr>
              <a:t>1 / 2 / 4 / 8 / 16 labels per class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8247888" y="1810512"/>
          <a:ext cx="3364992" cy="3584448"/>
        </p:xfrm>
        <a:graphic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8247888" y="5541264"/>
            <a:ext cx="3364992" cy="512064"/>
          </a:xfrm>
          <a:prstGeom prst="roundRect">
            <a:avLst>
              <a:gd name="adj" fmla="val 8000"/>
            </a:avLst>
          </a:prstGeom>
          <a:solidFill>
            <a:srgbClr val="E1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5577840"/>
            <a:ext cx="3218688" cy="42062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63060"/>
                </a:solidFill>
                <a:latin typeface="Microsoft YaHei"/>
              </a:rPr>
              <a:t>标签越多越接近，但仍未超过 54.72%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6035040"/>
            <a:ext cx="10991088" cy="329184"/>
          </a:xfrm>
          <a:prstGeom prst="roundRect">
            <a:avLst>
              <a:gd name="adj" fmla="val 8000"/>
            </a:avLst>
          </a:prstGeom>
          <a:solidFill>
            <a:srgbClr val="06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6044184"/>
            <a:ext cx="10771632" cy="30175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结论：双通道模型能够跨受试者迁移；当前条件下，零校准优于目标微调。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556248"/>
            <a:ext cx="4206240" cy="16459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</a:rPr>
              <a:t>FrontEEGNet · 王晨宇 · 浙江大学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37392" y="652881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978"/>
                </a:solidFill>
                <a:latin typeface="Microsoft YaHei"/>
              </a:rPr>
              <a:t>5</a:t>
            </a:r>
          </a:p>
        </p:txBody>
      </p:sp>
      <p:pic>
        <p:nvPicPr>
          <p:cNvPr id="28" name="Picture 27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3968" y="73152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1546</Words>
  <Application>WPS 演示</Application>
  <PresentationFormat>Converted Presentation</PresentationFormat>
  <Paragraphs>240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1" baseType="lpstr">
      <vt:lpstr>Arial</vt:lpstr>
      <vt:lpstr>宋体</vt:lpstr>
      <vt:lpstr>Wingdings</vt:lpstr>
      <vt:lpstr>Noto Sans CJK SC</vt:lpstr>
      <vt:lpstr>微软雅黑</vt:lpstr>
      <vt:lpstr>Noto Serif CJK SC</vt:lpstr>
      <vt:lpstr>宋体</vt:lpstr>
      <vt:lpstr>Arial Unicode MS</vt:lpstr>
      <vt:lpstr>Calibri</vt:lpstr>
      <vt:lpstr>Trebuchet MS</vt:lpstr>
      <vt:lpstr>Webdings</vt:lpstr>
      <vt:lpstr>Noto Sans CJK KR Light</vt:lpstr>
      <vt:lpstr>方正仿宋_GB2312</vt:lpstr>
      <vt:lpstr>Times New Roman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王晨宇</cp:lastModifiedBy>
  <cp:revision>15</cp:revision>
  <dcterms:created xsi:type="dcterms:W3CDTF">2026-09-03T14:30:41Z</dcterms:created>
  <dcterms:modified xsi:type="dcterms:W3CDTF">2026-09-03T14:30:41Z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A751440B631F0332537F996AEDADEE74_42</vt:lpwstr>
  </property>
  <property fmtid="{D5CDD505-2E9C-101B-9397-08002B2CF9AE}" pid="3" name="KSOProductBuildVer">
    <vt:lpwstr>2052-12.1.2.22571</vt:lpwstr>
  </property>
</Properties>
</file>